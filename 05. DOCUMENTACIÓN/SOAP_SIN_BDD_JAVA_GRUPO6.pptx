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258" r:id="rId2"/>
    <p:sldId id="259" r:id="rId3"/>
    <p:sldId id="264" r:id="rId4"/>
    <p:sldId id="260" r:id="rId5"/>
    <p:sldId id="294" r:id="rId6"/>
    <p:sldId id="261" r:id="rId7"/>
    <p:sldId id="286" r:id="rId8"/>
    <p:sldId id="285" r:id="rId9"/>
    <p:sldId id="287" r:id="rId10"/>
    <p:sldId id="288" r:id="rId11"/>
    <p:sldId id="289" r:id="rId12"/>
    <p:sldId id="290" r:id="rId13"/>
    <p:sldId id="291" r:id="rId14"/>
    <p:sldId id="293" r:id="rId15"/>
    <p:sldId id="292" r:id="rId16"/>
    <p:sldId id="295" r:id="rId17"/>
    <p:sldId id="297" r:id="rId18"/>
    <p:sldId id="296" r:id="rId19"/>
    <p:sldId id="298" r:id="rId20"/>
    <p:sldId id="300" r:id="rId21"/>
    <p:sldId id="299" r:id="rId22"/>
    <p:sldId id="302" r:id="rId23"/>
    <p:sldId id="303" r:id="rId24"/>
    <p:sldId id="301" r:id="rId25"/>
    <p:sldId id="304" r:id="rId26"/>
    <p:sldId id="305" r:id="rId27"/>
    <p:sldId id="306" r:id="rId28"/>
    <p:sldId id="307" r:id="rId29"/>
    <p:sldId id="308" r:id="rId30"/>
    <p:sldId id="309" r:id="rId31"/>
    <p:sldId id="310" r:id="rId32"/>
    <p:sldId id="311" r:id="rId33"/>
    <p:sldId id="312" r:id="rId34"/>
    <p:sldId id="313" r:id="rId35"/>
    <p:sldId id="315" r:id="rId36"/>
    <p:sldId id="314"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33" r:id="rId55"/>
    <p:sldId id="334" r:id="rId56"/>
    <p:sldId id="335" r:id="rId57"/>
    <p:sldId id="336" r:id="rId5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94660"/>
  </p:normalViewPr>
  <p:slideViewPr>
    <p:cSldViewPr snapToGrid="0">
      <p:cViewPr>
        <p:scale>
          <a:sx n="100" d="100"/>
          <a:sy n="100" d="100"/>
        </p:scale>
        <p:origin x="-24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ARIEL ROMERO MOREIRA" userId="33eb3b08-2fb2-4ec6-8aa8-14951138301e" providerId="ADAL" clId="{CCB9A737-7177-4101-8920-B9FE47EB6AAA}"/>
    <pc:docChg chg="undo custSel modSld">
      <pc:chgData name="CARLOS ARIEL ROMERO MOREIRA" userId="33eb3b08-2fb2-4ec6-8aa8-14951138301e" providerId="ADAL" clId="{CCB9A737-7177-4101-8920-B9FE47EB6AAA}" dt="2024-11-27T04:17:50.215" v="90" actId="20577"/>
      <pc:docMkLst>
        <pc:docMk/>
      </pc:docMkLst>
      <pc:sldChg chg="modSp mod">
        <pc:chgData name="CARLOS ARIEL ROMERO MOREIRA" userId="33eb3b08-2fb2-4ec6-8aa8-14951138301e" providerId="ADAL" clId="{CCB9A737-7177-4101-8920-B9FE47EB6AAA}" dt="2024-11-27T04:16:59.937" v="83" actId="27636"/>
        <pc:sldMkLst>
          <pc:docMk/>
          <pc:sldMk cId="4206866613" sldId="258"/>
        </pc:sldMkLst>
        <pc:spChg chg="mod">
          <ac:chgData name="CARLOS ARIEL ROMERO MOREIRA" userId="33eb3b08-2fb2-4ec6-8aa8-14951138301e" providerId="ADAL" clId="{CCB9A737-7177-4101-8920-B9FE47EB6AAA}" dt="2024-11-27T04:16:59.937" v="83" actId="27636"/>
          <ac:spMkLst>
            <pc:docMk/>
            <pc:sldMk cId="4206866613" sldId="258"/>
            <ac:spMk id="2" creationId="{E8956176-055A-4F41-9A1C-5A8ABC57AE1B}"/>
          </ac:spMkLst>
        </pc:spChg>
        <pc:spChg chg="mod">
          <ac:chgData name="CARLOS ARIEL ROMERO MOREIRA" userId="33eb3b08-2fb2-4ec6-8aa8-14951138301e" providerId="ADAL" clId="{CCB9A737-7177-4101-8920-B9FE47EB6AAA}" dt="2024-11-27T04:08:50.963" v="49" actId="20577"/>
          <ac:spMkLst>
            <pc:docMk/>
            <pc:sldMk cId="4206866613" sldId="258"/>
            <ac:spMk id="3" creationId="{3D0C571E-A349-4667-927F-5916BE6073A2}"/>
          </ac:spMkLst>
        </pc:spChg>
        <pc:spChg chg="mod">
          <ac:chgData name="CARLOS ARIEL ROMERO MOREIRA" userId="33eb3b08-2fb2-4ec6-8aa8-14951138301e" providerId="ADAL" clId="{CCB9A737-7177-4101-8920-B9FE47EB6AAA}" dt="2024-11-27T04:09:22.748" v="57" actId="20577"/>
          <ac:spMkLst>
            <pc:docMk/>
            <pc:sldMk cId="4206866613" sldId="258"/>
            <ac:spMk id="5" creationId="{1967A448-01D9-4956-A50F-F9BFFBEC42EB}"/>
          </ac:spMkLst>
        </pc:spChg>
      </pc:sldChg>
      <pc:sldChg chg="addSp delSp modSp mod">
        <pc:chgData name="CARLOS ARIEL ROMERO MOREIRA" userId="33eb3b08-2fb2-4ec6-8aa8-14951138301e" providerId="ADAL" clId="{CCB9A737-7177-4101-8920-B9FE47EB6AAA}" dt="2024-11-27T04:11:43.184" v="69" actId="108"/>
        <pc:sldMkLst>
          <pc:docMk/>
          <pc:sldMk cId="4206259790" sldId="260"/>
        </pc:sldMkLst>
        <pc:picChg chg="add del">
          <ac:chgData name="CARLOS ARIEL ROMERO MOREIRA" userId="33eb3b08-2fb2-4ec6-8aa8-14951138301e" providerId="ADAL" clId="{CCB9A737-7177-4101-8920-B9FE47EB6AAA}" dt="2024-11-27T04:10:33.651" v="60" actId="22"/>
          <ac:picMkLst>
            <pc:docMk/>
            <pc:sldMk cId="4206259790" sldId="260"/>
            <ac:picMk id="4" creationId="{A687EE90-2542-4F20-A39E-D446DDD59016}"/>
          </ac:picMkLst>
        </pc:picChg>
        <pc:picChg chg="add del">
          <ac:chgData name="CARLOS ARIEL ROMERO MOREIRA" userId="33eb3b08-2fb2-4ec6-8aa8-14951138301e" providerId="ADAL" clId="{CCB9A737-7177-4101-8920-B9FE47EB6AAA}" dt="2024-11-27T04:10:57.618" v="62" actId="478"/>
          <ac:picMkLst>
            <pc:docMk/>
            <pc:sldMk cId="4206259790" sldId="260"/>
            <ac:picMk id="6" creationId="{6546108B-B262-BAB3-F0CC-1186634E614B}"/>
          </ac:picMkLst>
        </pc:picChg>
        <pc:picChg chg="add mod">
          <ac:chgData name="CARLOS ARIEL ROMERO MOREIRA" userId="33eb3b08-2fb2-4ec6-8aa8-14951138301e" providerId="ADAL" clId="{CCB9A737-7177-4101-8920-B9FE47EB6AAA}" dt="2024-11-27T04:11:14.573" v="65" actId="108"/>
          <ac:picMkLst>
            <pc:docMk/>
            <pc:sldMk cId="4206259790" sldId="260"/>
            <ac:picMk id="8" creationId="{8AB37135-F1A2-482A-8F24-4F40EB15DB33}"/>
          </ac:picMkLst>
        </pc:picChg>
        <pc:picChg chg="del">
          <ac:chgData name="CARLOS ARIEL ROMERO MOREIRA" userId="33eb3b08-2fb2-4ec6-8aa8-14951138301e" providerId="ADAL" clId="{CCB9A737-7177-4101-8920-B9FE47EB6AAA}" dt="2024-11-27T04:11:35.971" v="66" actId="478"/>
          <ac:picMkLst>
            <pc:docMk/>
            <pc:sldMk cId="4206259790" sldId="260"/>
            <ac:picMk id="9" creationId="{3D5E0B2B-709D-685F-338D-73DF92D4D3EB}"/>
          </ac:picMkLst>
        </pc:picChg>
        <pc:picChg chg="add mod">
          <ac:chgData name="CARLOS ARIEL ROMERO MOREIRA" userId="33eb3b08-2fb2-4ec6-8aa8-14951138301e" providerId="ADAL" clId="{CCB9A737-7177-4101-8920-B9FE47EB6AAA}" dt="2024-11-27T04:11:43.184" v="69" actId="108"/>
          <ac:picMkLst>
            <pc:docMk/>
            <pc:sldMk cId="4206259790" sldId="260"/>
            <ac:picMk id="12" creationId="{EFF7E2D1-CD9C-4757-A3DE-0CB18FB0AD4C}"/>
          </ac:picMkLst>
        </pc:picChg>
      </pc:sldChg>
      <pc:sldChg chg="modSp mod">
        <pc:chgData name="CARLOS ARIEL ROMERO MOREIRA" userId="33eb3b08-2fb2-4ec6-8aa8-14951138301e" providerId="ADAL" clId="{CCB9A737-7177-4101-8920-B9FE47EB6AAA}" dt="2024-11-27T04:17:50.215" v="90" actId="20577"/>
        <pc:sldMkLst>
          <pc:docMk/>
          <pc:sldMk cId="3092708979" sldId="264"/>
        </pc:sldMkLst>
        <pc:spChg chg="mod">
          <ac:chgData name="CARLOS ARIEL ROMERO MOREIRA" userId="33eb3b08-2fb2-4ec6-8aa8-14951138301e" providerId="ADAL" clId="{CCB9A737-7177-4101-8920-B9FE47EB6AAA}" dt="2024-11-27T04:17:50.215" v="90" actId="20577"/>
          <ac:spMkLst>
            <pc:docMk/>
            <pc:sldMk cId="3092708979" sldId="264"/>
            <ac:spMk id="3" creationId="{24450567-4B65-45C0-A0CF-8E25C31398B6}"/>
          </ac:spMkLst>
        </pc:spChg>
      </pc:sldChg>
      <pc:sldChg chg="addSp delSp modSp mod">
        <pc:chgData name="CARLOS ARIEL ROMERO MOREIRA" userId="33eb3b08-2fb2-4ec6-8aa8-14951138301e" providerId="ADAL" clId="{CCB9A737-7177-4101-8920-B9FE47EB6AAA}" dt="2024-11-27T04:16:29.277" v="74" actId="1076"/>
        <pc:sldMkLst>
          <pc:docMk/>
          <pc:sldMk cId="2192766281" sldId="285"/>
        </pc:sldMkLst>
        <pc:picChg chg="del">
          <ac:chgData name="CARLOS ARIEL ROMERO MOREIRA" userId="33eb3b08-2fb2-4ec6-8aa8-14951138301e" providerId="ADAL" clId="{CCB9A737-7177-4101-8920-B9FE47EB6AAA}" dt="2024-11-27T04:16:21.570" v="72" actId="478"/>
          <ac:picMkLst>
            <pc:docMk/>
            <pc:sldMk cId="2192766281" sldId="285"/>
            <ac:picMk id="5" creationId="{72D976D2-420D-550D-BB45-2F4EF0AE24B5}"/>
          </ac:picMkLst>
        </pc:picChg>
        <pc:picChg chg="add mod">
          <ac:chgData name="CARLOS ARIEL ROMERO MOREIRA" userId="33eb3b08-2fb2-4ec6-8aa8-14951138301e" providerId="ADAL" clId="{CCB9A737-7177-4101-8920-B9FE47EB6AAA}" dt="2024-11-27T04:16:29.277" v="74" actId="1076"/>
          <ac:picMkLst>
            <pc:docMk/>
            <pc:sldMk cId="2192766281" sldId="285"/>
            <ac:picMk id="7" creationId="{BEA2AD9B-D9E9-43B4-AAEC-247771BE846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0690D5-D519-41DB-B4EF-34C6DC34EE12}" type="datetimeFigureOut">
              <a:rPr lang="es-ES" smtClean="0"/>
              <a:t>26/11/2024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38BF6F-5D13-49E3-B34F-51589BE3BF15}" type="slidenum">
              <a:rPr lang="es-ES" smtClean="0"/>
              <a:t>‹#›</a:t>
            </a:fld>
            <a:endParaRPr lang="es-ES"/>
          </a:p>
        </p:txBody>
      </p:sp>
    </p:spTree>
    <p:extLst>
      <p:ext uri="{BB962C8B-B14F-4D97-AF65-F5344CB8AC3E}">
        <p14:creationId xmlns:p14="http://schemas.microsoft.com/office/powerpoint/2010/main" val="1568776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2024-11-26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643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2024-11-26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2162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2024-11-26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524641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2024-11-26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01711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2024-11-26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80059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2024-11-26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194981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2024-11-26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78690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2024-11-26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48310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2024-11-26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09877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2024-11-26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61749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2024-11-26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85589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2024-11-26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1132138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956176-055A-4F41-9A1C-5A8ABC57AE1B}"/>
              </a:ext>
            </a:extLst>
          </p:cNvPr>
          <p:cNvSpPr>
            <a:spLocks noGrp="1"/>
          </p:cNvSpPr>
          <p:nvPr>
            <p:ph type="ctrTitle"/>
          </p:nvPr>
        </p:nvSpPr>
        <p:spPr>
          <a:xfrm>
            <a:off x="517945" y="3608618"/>
            <a:ext cx="10993549" cy="678311"/>
          </a:xfrm>
        </p:spPr>
        <p:txBody>
          <a:bodyPr>
            <a:normAutofit fontScale="90000"/>
          </a:bodyPr>
          <a:lstStyle/>
          <a:p>
            <a:pPr algn="ctr"/>
            <a:r>
              <a:rPr lang="es-ES" dirty="0">
                <a:solidFill>
                  <a:schemeClr val="bg1"/>
                </a:solidFill>
              </a:rPr>
              <a:t>Conversión DE UNIDADES </a:t>
            </a:r>
            <a:r>
              <a:rPr lang="es-ES" dirty="0" err="1">
                <a:solidFill>
                  <a:schemeClr val="bg1"/>
                </a:solidFill>
              </a:rPr>
              <a:t>RestFull</a:t>
            </a:r>
            <a:r>
              <a:rPr lang="es-ES" dirty="0">
                <a:solidFill>
                  <a:schemeClr val="bg1"/>
                </a:solidFill>
              </a:rPr>
              <a:t> JAVA SIN BDD</a:t>
            </a:r>
            <a:endParaRPr lang="es-EC" dirty="0">
              <a:solidFill>
                <a:schemeClr val="bg1"/>
              </a:solidFill>
            </a:endParaRPr>
          </a:p>
        </p:txBody>
      </p:sp>
      <p:sp>
        <p:nvSpPr>
          <p:cNvPr id="3" name="Subtítulo 2">
            <a:extLst>
              <a:ext uri="{FF2B5EF4-FFF2-40B4-BE49-F238E27FC236}">
                <a16:creationId xmlns:a16="http://schemas.microsoft.com/office/drawing/2014/main" id="{3D0C571E-A349-4667-927F-5916BE6073A2}"/>
              </a:ext>
            </a:extLst>
          </p:cNvPr>
          <p:cNvSpPr>
            <a:spLocks noGrp="1"/>
          </p:cNvSpPr>
          <p:nvPr>
            <p:ph type="subTitle" idx="1"/>
          </p:nvPr>
        </p:nvSpPr>
        <p:spPr>
          <a:xfrm>
            <a:off x="599226" y="5149400"/>
            <a:ext cx="4734774" cy="1235358"/>
          </a:xfrm>
        </p:spPr>
        <p:txBody>
          <a:bodyPr>
            <a:normAutofit fontScale="85000" lnSpcReduction="20000"/>
          </a:bodyPr>
          <a:lstStyle/>
          <a:p>
            <a:r>
              <a:rPr lang="es-EC" b="1" dirty="0">
                <a:solidFill>
                  <a:schemeClr val="bg1"/>
                </a:solidFill>
              </a:rPr>
              <a:t>Integrantes: 	</a:t>
            </a:r>
            <a:r>
              <a:rPr lang="es-EC" dirty="0">
                <a:solidFill>
                  <a:schemeClr val="bg1"/>
                </a:solidFill>
              </a:rPr>
              <a:t>Adrián iza</a:t>
            </a:r>
          </a:p>
          <a:p>
            <a:r>
              <a:rPr lang="es-EC" dirty="0">
                <a:solidFill>
                  <a:schemeClr val="bg1"/>
                </a:solidFill>
              </a:rPr>
              <a:t>				Christopher </a:t>
            </a:r>
            <a:r>
              <a:rPr lang="es-EC" dirty="0" err="1">
                <a:solidFill>
                  <a:schemeClr val="bg1"/>
                </a:solidFill>
              </a:rPr>
              <a:t>Loachamín</a:t>
            </a:r>
            <a:endParaRPr lang="es-EC" dirty="0">
              <a:solidFill>
                <a:schemeClr val="bg1"/>
              </a:solidFill>
            </a:endParaRPr>
          </a:p>
          <a:p>
            <a:r>
              <a:rPr lang="es-EC" dirty="0">
                <a:solidFill>
                  <a:schemeClr val="bg1"/>
                </a:solidFill>
              </a:rPr>
              <a:t>				Carlos Romero</a:t>
            </a:r>
          </a:p>
          <a:p>
            <a:r>
              <a:rPr lang="es-EC" dirty="0">
                <a:solidFill>
                  <a:schemeClr val="bg1"/>
                </a:solidFill>
              </a:rPr>
              <a:t>			      </a:t>
            </a:r>
          </a:p>
          <a:p>
            <a:endParaRPr lang="es-EC" dirty="0">
              <a:solidFill>
                <a:schemeClr val="bg1"/>
              </a:solidFill>
            </a:endParaRPr>
          </a:p>
        </p:txBody>
      </p:sp>
      <p:pic>
        <p:nvPicPr>
          <p:cNvPr id="1026" name="Picture 2" descr="Resultado de imagen para espe">
            <a:extLst>
              <a:ext uri="{FF2B5EF4-FFF2-40B4-BE49-F238E27FC236}">
                <a16:creationId xmlns:a16="http://schemas.microsoft.com/office/drawing/2014/main" id="{F414D571-4BC8-480A-8CAB-8B16FE515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97" y="716302"/>
            <a:ext cx="11647502" cy="2193925"/>
          </a:xfrm>
          <a:prstGeom prst="rect">
            <a:avLst/>
          </a:prstGeom>
          <a:noFill/>
          <a:extLst>
            <a:ext uri="{909E8E84-426E-40DD-AFC4-6F175D3DCCD1}">
              <a14:hiddenFill xmlns:a14="http://schemas.microsoft.com/office/drawing/2010/main">
                <a:solidFill>
                  <a:srgbClr val="FFFFFF"/>
                </a:solidFill>
              </a14:hiddenFill>
            </a:ext>
          </a:extLst>
        </p:spPr>
      </p:pic>
      <p:sp>
        <p:nvSpPr>
          <p:cNvPr id="5" name="Subtítulo 2">
            <a:extLst>
              <a:ext uri="{FF2B5EF4-FFF2-40B4-BE49-F238E27FC236}">
                <a16:creationId xmlns:a16="http://schemas.microsoft.com/office/drawing/2014/main" id="{1967A448-01D9-4956-A50F-F9BFFBEC42EB}"/>
              </a:ext>
            </a:extLst>
          </p:cNvPr>
          <p:cNvSpPr txBox="1">
            <a:spLocks/>
          </p:cNvSpPr>
          <p:nvPr/>
        </p:nvSpPr>
        <p:spPr>
          <a:xfrm>
            <a:off x="7874427" y="5149400"/>
            <a:ext cx="3718347" cy="132464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EC" b="1" dirty="0">
                <a:solidFill>
                  <a:schemeClr val="bg1"/>
                </a:solidFill>
              </a:rPr>
              <a:t>NRC:	</a:t>
            </a:r>
            <a:r>
              <a:rPr lang="es-EC" dirty="0">
                <a:solidFill>
                  <a:schemeClr val="bg1"/>
                </a:solidFill>
              </a:rPr>
              <a:t>2642</a:t>
            </a:r>
          </a:p>
          <a:p>
            <a:r>
              <a:rPr lang="es-EC" b="1" dirty="0">
                <a:solidFill>
                  <a:schemeClr val="bg1"/>
                </a:solidFill>
              </a:rPr>
              <a:t>FECHA:	</a:t>
            </a:r>
            <a:r>
              <a:rPr lang="es-EC" dirty="0">
                <a:solidFill>
                  <a:schemeClr val="bg1"/>
                </a:solidFill>
              </a:rPr>
              <a:t>27/11/2024</a:t>
            </a:r>
          </a:p>
          <a:p>
            <a:r>
              <a:rPr lang="es-EC" b="1" dirty="0">
                <a:solidFill>
                  <a:schemeClr val="bg1"/>
                </a:solidFill>
              </a:rPr>
              <a:t>TUTOR:	</a:t>
            </a:r>
            <a:r>
              <a:rPr lang="es-EC" dirty="0">
                <a:solidFill>
                  <a:schemeClr val="bg1"/>
                </a:solidFill>
              </a:rPr>
              <a:t>Ing. Mauricio Campaña</a:t>
            </a:r>
            <a:endParaRPr lang="es-EC" b="1" dirty="0">
              <a:solidFill>
                <a:schemeClr val="bg1"/>
              </a:solidFill>
            </a:endParaRPr>
          </a:p>
        </p:txBody>
      </p:sp>
      <p:sp>
        <p:nvSpPr>
          <p:cNvPr id="8" name="CuadroTexto 7">
            <a:extLst>
              <a:ext uri="{FF2B5EF4-FFF2-40B4-BE49-F238E27FC236}">
                <a16:creationId xmlns:a16="http://schemas.microsoft.com/office/drawing/2014/main" id="{2A512A79-B951-4143-9C53-4F290E48939A}"/>
              </a:ext>
            </a:extLst>
          </p:cNvPr>
          <p:cNvSpPr txBox="1"/>
          <p:nvPr/>
        </p:nvSpPr>
        <p:spPr>
          <a:xfrm>
            <a:off x="11817675" y="6457890"/>
            <a:ext cx="374325" cy="400110"/>
          </a:xfrm>
          <a:prstGeom prst="rect">
            <a:avLst/>
          </a:prstGeom>
          <a:noFill/>
        </p:spPr>
        <p:txBody>
          <a:bodyPr wrap="square" rtlCol="0">
            <a:spAutoFit/>
          </a:bodyPr>
          <a:lstStyle/>
          <a:p>
            <a:r>
              <a:rPr lang="es-EC" sz="2000" dirty="0"/>
              <a:t>1</a:t>
            </a:r>
          </a:p>
        </p:txBody>
      </p:sp>
    </p:spTree>
    <p:extLst>
      <p:ext uri="{BB962C8B-B14F-4D97-AF65-F5344CB8AC3E}">
        <p14:creationId xmlns:p14="http://schemas.microsoft.com/office/powerpoint/2010/main" val="4206866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7A39ECEA-994A-44EA-8958-E37D54DBA968}"/>
              </a:ext>
            </a:extLst>
          </p:cNvPr>
          <p:cNvSpPr>
            <a:spLocks noGrp="1"/>
          </p:cNvSpPr>
          <p:nvPr>
            <p:ph idx="1"/>
          </p:nvPr>
        </p:nvSpPr>
        <p:spPr>
          <a:xfrm>
            <a:off x="442377" y="631821"/>
            <a:ext cx="3707476" cy="5594358"/>
          </a:xfrm>
        </p:spPr>
        <p:txBody>
          <a:bodyPr>
            <a:noAutofit/>
          </a:bodyPr>
          <a:lstStyle/>
          <a:p>
            <a:pPr>
              <a:lnSpc>
                <a:spcPct val="90000"/>
              </a:lnSpc>
            </a:pPr>
            <a:r>
              <a:rPr lang="es-ES" sz="700" dirty="0">
                <a:solidFill>
                  <a:schemeClr val="bg1"/>
                </a:solidFill>
              </a:rPr>
              <a:t>ESTRUCTURA DE PROYECTO</a:t>
            </a:r>
          </a:p>
          <a:p>
            <a:pPr>
              <a:lnSpc>
                <a:spcPct val="90000"/>
              </a:lnSpc>
            </a:pPr>
            <a:r>
              <a:rPr lang="es-ES" sz="700" dirty="0">
                <a:solidFill>
                  <a:schemeClr val="bg1"/>
                </a:solidFill>
              </a:rPr>
              <a:t>APLICACIÓN SERVIDOR</a:t>
            </a:r>
          </a:p>
          <a:p>
            <a:pPr lvl="1">
              <a:lnSpc>
                <a:spcPct val="90000"/>
              </a:lnSpc>
            </a:pPr>
            <a:r>
              <a:rPr lang="es-ES" sz="700" dirty="0">
                <a:solidFill>
                  <a:schemeClr val="bg1"/>
                </a:solidFill>
              </a:rPr>
              <a:t>CREACIÓN DEL PROYECTO SERVIDOR</a:t>
            </a:r>
          </a:p>
          <a:p>
            <a:pPr lvl="1">
              <a:lnSpc>
                <a:spcPct val="90000"/>
              </a:lnSpc>
            </a:pPr>
            <a:r>
              <a:rPr lang="es-ES" sz="700" dirty="0">
                <a:solidFill>
                  <a:schemeClr val="bg1"/>
                </a:solidFill>
              </a:rPr>
              <a:t>MODELO MVC</a:t>
            </a:r>
          </a:p>
          <a:p>
            <a:pPr lvl="1">
              <a:lnSpc>
                <a:spcPct val="90000"/>
              </a:lnSpc>
            </a:pPr>
            <a:r>
              <a:rPr lang="es-ES" sz="700" dirty="0">
                <a:solidFill>
                  <a:schemeClr val="bg1"/>
                </a:solidFill>
              </a:rPr>
              <a:t>PRUEBA UNITARIAS</a:t>
            </a:r>
          </a:p>
          <a:p>
            <a:pPr lvl="1">
              <a:lnSpc>
                <a:spcPct val="90000"/>
              </a:lnSpc>
            </a:pPr>
            <a:r>
              <a:rPr lang="es-ES" sz="700" dirty="0">
                <a:solidFill>
                  <a:schemeClr val="bg1"/>
                </a:solidFill>
              </a:rPr>
              <a:t>EJECUCIÓN DE LA APLICACIÓN</a:t>
            </a:r>
          </a:p>
          <a:p>
            <a:pPr>
              <a:lnSpc>
                <a:spcPct val="90000"/>
              </a:lnSpc>
            </a:pPr>
            <a:r>
              <a:rPr lang="es-ES" sz="700" dirty="0">
                <a:solidFill>
                  <a:schemeClr val="bg1"/>
                </a:solidFill>
              </a:rPr>
              <a:t>APLICACIÓN CLIENTE CONSOLA</a:t>
            </a:r>
          </a:p>
          <a:p>
            <a:pPr lvl="1">
              <a:lnSpc>
                <a:spcPct val="90000"/>
              </a:lnSpc>
            </a:pPr>
            <a:r>
              <a:rPr lang="es-ES" sz="700" dirty="0">
                <a:solidFill>
                  <a:schemeClr val="bg1"/>
                </a:solidFill>
              </a:rPr>
              <a:t>CREACIÓN DEL CLIENTE</a:t>
            </a:r>
          </a:p>
          <a:p>
            <a:pPr lvl="1">
              <a:lnSpc>
                <a:spcPct val="90000"/>
              </a:lnSpc>
            </a:pPr>
            <a:r>
              <a:rPr lang="es-ES" sz="700" dirty="0">
                <a:solidFill>
                  <a:schemeClr val="bg1"/>
                </a:solidFill>
              </a:rPr>
              <a:t>MODELO MVC</a:t>
            </a:r>
          </a:p>
          <a:p>
            <a:pPr lvl="1">
              <a:lnSpc>
                <a:spcPct val="90000"/>
              </a:lnSpc>
            </a:pPr>
            <a:r>
              <a:rPr lang="es-ES" sz="700" dirty="0">
                <a:solidFill>
                  <a:schemeClr val="bg1"/>
                </a:solidFill>
              </a:rPr>
              <a:t>PRUEBAS UNITARIAS</a:t>
            </a:r>
          </a:p>
          <a:p>
            <a:pPr lvl="1">
              <a:lnSpc>
                <a:spcPct val="90000"/>
              </a:lnSpc>
            </a:pPr>
            <a:r>
              <a:rPr lang="es-ES" sz="700" dirty="0">
                <a:solidFill>
                  <a:schemeClr val="bg1"/>
                </a:solidFill>
              </a:rPr>
              <a:t>EJECUCIÓN DE LA APLICACIÓN</a:t>
            </a:r>
          </a:p>
          <a:p>
            <a:pPr>
              <a:lnSpc>
                <a:spcPct val="90000"/>
              </a:lnSpc>
            </a:pPr>
            <a:r>
              <a:rPr lang="es-ES" sz="700" dirty="0">
                <a:solidFill>
                  <a:schemeClr val="bg1"/>
                </a:solidFill>
              </a:rPr>
              <a:t>APLICACIÓN CLIENTE ESCRITORIO</a:t>
            </a:r>
          </a:p>
          <a:p>
            <a:pPr lvl="1">
              <a:lnSpc>
                <a:spcPct val="90000"/>
              </a:lnSpc>
            </a:pPr>
            <a:r>
              <a:rPr lang="es-ES" sz="700" dirty="0">
                <a:solidFill>
                  <a:schemeClr val="bg1"/>
                </a:solidFill>
              </a:rPr>
              <a:t>CREACIÓN DEL CLIENTE</a:t>
            </a:r>
          </a:p>
          <a:p>
            <a:pPr lvl="1">
              <a:lnSpc>
                <a:spcPct val="90000"/>
              </a:lnSpc>
            </a:pPr>
            <a:r>
              <a:rPr lang="es-ES" sz="700" dirty="0">
                <a:solidFill>
                  <a:schemeClr val="bg1"/>
                </a:solidFill>
              </a:rPr>
              <a:t>MODELO MVC</a:t>
            </a:r>
          </a:p>
          <a:p>
            <a:pPr lvl="1">
              <a:lnSpc>
                <a:spcPct val="90000"/>
              </a:lnSpc>
            </a:pPr>
            <a:r>
              <a:rPr lang="es-ES" sz="700" dirty="0">
                <a:solidFill>
                  <a:schemeClr val="bg1"/>
                </a:solidFill>
              </a:rPr>
              <a:t>PRUEBAS UNITARIAS</a:t>
            </a:r>
          </a:p>
          <a:p>
            <a:pPr lvl="1">
              <a:lnSpc>
                <a:spcPct val="90000"/>
              </a:lnSpc>
            </a:pPr>
            <a:r>
              <a:rPr lang="es-ES" sz="700" dirty="0">
                <a:solidFill>
                  <a:schemeClr val="bg1"/>
                </a:solidFill>
              </a:rPr>
              <a:t>EJECUCIÓN DE LA APLICACIÓN</a:t>
            </a:r>
          </a:p>
          <a:p>
            <a:pPr>
              <a:lnSpc>
                <a:spcPct val="90000"/>
              </a:lnSpc>
            </a:pPr>
            <a:r>
              <a:rPr lang="es-ES" sz="700" dirty="0">
                <a:solidFill>
                  <a:schemeClr val="bg1"/>
                </a:solidFill>
              </a:rPr>
              <a:t>APLICACIÓN CLIENTE MÓVIL</a:t>
            </a:r>
          </a:p>
          <a:p>
            <a:pPr lvl="1">
              <a:lnSpc>
                <a:spcPct val="90000"/>
              </a:lnSpc>
            </a:pPr>
            <a:r>
              <a:rPr lang="es-ES" sz="700" dirty="0">
                <a:solidFill>
                  <a:schemeClr val="bg1"/>
                </a:solidFill>
              </a:rPr>
              <a:t>CREACIÓN DEL CLIENTE</a:t>
            </a:r>
          </a:p>
          <a:p>
            <a:pPr lvl="1">
              <a:lnSpc>
                <a:spcPct val="90000"/>
              </a:lnSpc>
            </a:pPr>
            <a:r>
              <a:rPr lang="es-ES" sz="700" dirty="0">
                <a:solidFill>
                  <a:schemeClr val="bg1"/>
                </a:solidFill>
              </a:rPr>
              <a:t>MODELO MVC</a:t>
            </a:r>
          </a:p>
          <a:p>
            <a:pPr lvl="1">
              <a:lnSpc>
                <a:spcPct val="90000"/>
              </a:lnSpc>
            </a:pPr>
            <a:r>
              <a:rPr lang="es-ES" sz="700" dirty="0">
                <a:solidFill>
                  <a:schemeClr val="bg1"/>
                </a:solidFill>
              </a:rPr>
              <a:t>PRUEBAS UNITARIAS</a:t>
            </a:r>
          </a:p>
          <a:p>
            <a:pPr lvl="1">
              <a:lnSpc>
                <a:spcPct val="90000"/>
              </a:lnSpc>
            </a:pPr>
            <a:r>
              <a:rPr lang="es-ES" sz="700" dirty="0">
                <a:solidFill>
                  <a:schemeClr val="bg1"/>
                </a:solidFill>
              </a:rPr>
              <a:t>EJECUCIÓN DE LA APLICACIÓN</a:t>
            </a:r>
          </a:p>
          <a:p>
            <a:pPr>
              <a:lnSpc>
                <a:spcPct val="90000"/>
              </a:lnSpc>
            </a:pPr>
            <a:r>
              <a:rPr lang="es-ES" sz="700" dirty="0">
                <a:solidFill>
                  <a:schemeClr val="bg1"/>
                </a:solidFill>
              </a:rPr>
              <a:t>APLICACIÓN CLIENTE WEB</a:t>
            </a:r>
          </a:p>
          <a:p>
            <a:pPr lvl="1">
              <a:lnSpc>
                <a:spcPct val="90000"/>
              </a:lnSpc>
            </a:pPr>
            <a:r>
              <a:rPr lang="es-ES" sz="700" dirty="0">
                <a:solidFill>
                  <a:schemeClr val="bg1"/>
                </a:solidFill>
              </a:rPr>
              <a:t>CREACIÓN DEL CLIENTE</a:t>
            </a:r>
          </a:p>
          <a:p>
            <a:pPr lvl="1">
              <a:lnSpc>
                <a:spcPct val="90000"/>
              </a:lnSpc>
            </a:pPr>
            <a:r>
              <a:rPr lang="es-ES" sz="700" dirty="0">
                <a:solidFill>
                  <a:schemeClr val="bg1"/>
                </a:solidFill>
              </a:rPr>
              <a:t>MODELO MVC</a:t>
            </a:r>
          </a:p>
          <a:p>
            <a:pPr lvl="1">
              <a:lnSpc>
                <a:spcPct val="90000"/>
              </a:lnSpc>
            </a:pPr>
            <a:r>
              <a:rPr lang="es-ES" sz="700" dirty="0">
                <a:solidFill>
                  <a:schemeClr val="bg1"/>
                </a:solidFill>
              </a:rPr>
              <a:t>PRUEBAS UNITARIAS</a:t>
            </a:r>
          </a:p>
          <a:p>
            <a:pPr lvl="1">
              <a:lnSpc>
                <a:spcPct val="90000"/>
              </a:lnSpc>
            </a:pPr>
            <a:r>
              <a:rPr lang="es-ES" sz="700" dirty="0">
                <a:solidFill>
                  <a:schemeClr val="bg1"/>
                </a:solidFill>
              </a:rPr>
              <a:t>EJECUCIÓN DE LA APLICACIÓN</a:t>
            </a:r>
          </a:p>
          <a:p>
            <a:pPr>
              <a:lnSpc>
                <a:spcPct val="90000"/>
              </a:lnSpc>
            </a:pPr>
            <a:r>
              <a:rPr lang="es-ES" sz="700" dirty="0">
                <a:solidFill>
                  <a:schemeClr val="bg1"/>
                </a:solidFill>
              </a:rPr>
              <a:t>CONCLUSIONES</a:t>
            </a:r>
          </a:p>
          <a:p>
            <a:pPr>
              <a:lnSpc>
                <a:spcPct val="90000"/>
              </a:lnSpc>
            </a:pPr>
            <a:r>
              <a:rPr lang="es-ES" sz="700" dirty="0">
                <a:solidFill>
                  <a:schemeClr val="bg1"/>
                </a:solidFill>
              </a:rPr>
              <a:t>RECOMENDACIONES</a:t>
            </a:r>
          </a:p>
        </p:txBody>
      </p:sp>
      <p:pic>
        <p:nvPicPr>
          <p:cNvPr id="5" name="Picture 2" descr="Resultado de imagen para AGENDA PNG">
            <a:extLst>
              <a:ext uri="{FF2B5EF4-FFF2-40B4-BE49-F238E27FC236}">
                <a16:creationId xmlns:a16="http://schemas.microsoft.com/office/drawing/2014/main" id="{65EBAD2C-103F-4596-964B-B9C65A21B10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8F5C24D8-036E-430F-8D59-040D94E2863B}"/>
              </a:ext>
            </a:extLst>
          </p:cNvPr>
          <p:cNvSpPr txBox="1"/>
          <p:nvPr/>
        </p:nvSpPr>
        <p:spPr>
          <a:xfrm>
            <a:off x="11817675" y="6457890"/>
            <a:ext cx="374325" cy="400110"/>
          </a:xfrm>
          <a:prstGeom prst="rect">
            <a:avLst/>
          </a:prstGeom>
          <a:noFill/>
        </p:spPr>
        <p:txBody>
          <a:bodyPr wrap="square" rtlCol="0">
            <a:spAutoFit/>
          </a:bodyPr>
          <a:lstStyle/>
          <a:p>
            <a:r>
              <a:rPr lang="es-EC" sz="2000" dirty="0"/>
              <a:t>2</a:t>
            </a:r>
          </a:p>
        </p:txBody>
      </p:sp>
    </p:spTree>
    <p:extLst>
      <p:ext uri="{BB962C8B-B14F-4D97-AF65-F5344CB8AC3E}">
        <p14:creationId xmlns:p14="http://schemas.microsoft.com/office/powerpoint/2010/main" val="1395632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566B89-C470-4C69-8689-38673C7B7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0708B1-1822-4D0E-B3F8-BF6E36438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90" y="457201"/>
            <a:ext cx="7363959"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1EAB69CE-6296-4D71-8DB3-BF71FD518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39774" y="453643"/>
            <a:ext cx="329184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3">
            <a:extLst>
              <a:ext uri="{FF2B5EF4-FFF2-40B4-BE49-F238E27FC236}">
                <a16:creationId xmlns:a16="http://schemas.microsoft.com/office/drawing/2014/main" id="{45B34FBD-A817-4E6B-8CD9-1BCA9CB67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89" y="681070"/>
            <a:ext cx="7363960" cy="56933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996381" y="1152939"/>
            <a:ext cx="6583680" cy="4539113"/>
          </a:xfrm>
        </p:spPr>
        <p:txBody>
          <a:bodyPr anchor="ctr">
            <a:normAutofit/>
          </a:bodyPr>
          <a:lstStyle/>
          <a:p>
            <a:r>
              <a:rPr lang="es-ES" sz="5400" dirty="0">
                <a:solidFill>
                  <a:srgbClr val="FFFFFF"/>
                </a:solidFill>
              </a:rPr>
              <a:t>ESTRUCTURA DEL PROYECTO</a:t>
            </a:r>
          </a:p>
        </p:txBody>
      </p:sp>
      <p:sp>
        <p:nvSpPr>
          <p:cNvPr id="3" name="Marcador de contenido 2">
            <a:extLst>
              <a:ext uri="{FF2B5EF4-FFF2-40B4-BE49-F238E27FC236}">
                <a16:creationId xmlns:a16="http://schemas.microsoft.com/office/drawing/2014/main" id="{24450567-4B65-45C0-A0CF-8E25C31398B6}"/>
              </a:ext>
            </a:extLst>
          </p:cNvPr>
          <p:cNvSpPr>
            <a:spLocks noGrp="1"/>
          </p:cNvSpPr>
          <p:nvPr>
            <p:ph idx="1"/>
          </p:nvPr>
        </p:nvSpPr>
        <p:spPr>
          <a:xfrm>
            <a:off x="8210681" y="1152939"/>
            <a:ext cx="3400126" cy="4539113"/>
          </a:xfrm>
        </p:spPr>
        <p:txBody>
          <a:bodyPr anchor="ctr">
            <a:normAutofit/>
          </a:bodyPr>
          <a:lstStyle/>
          <a:p>
            <a:r>
              <a:rPr lang="es-ES" dirty="0"/>
              <a:t>Para la realización de la parte práctica de este proyecto, es necesario realizar los siguientes pasos detallados a continuación y adaptarlo a las necesidades de cada individuo.</a:t>
            </a:r>
          </a:p>
          <a:p>
            <a:r>
              <a:rPr lang="es-ES" dirty="0"/>
              <a:t>Las herramientas necesarias para desarrollar esta práctica son los entornos de desarrollo Apache NetBeans 21 y Android Studio </a:t>
            </a:r>
            <a:r>
              <a:rPr lang="es-ES" dirty="0" err="1"/>
              <a:t>Ladybug</a:t>
            </a:r>
            <a:r>
              <a:rPr lang="es-ES" dirty="0"/>
              <a:t>.</a:t>
            </a:r>
          </a:p>
        </p:txBody>
      </p:sp>
      <p:sp>
        <p:nvSpPr>
          <p:cNvPr id="20" name="CuadroTexto 19">
            <a:extLst>
              <a:ext uri="{FF2B5EF4-FFF2-40B4-BE49-F238E27FC236}">
                <a16:creationId xmlns:a16="http://schemas.microsoft.com/office/drawing/2014/main" id="{63D2310E-26B1-4889-8EDE-811C71ECE2B7}"/>
              </a:ext>
            </a:extLst>
          </p:cNvPr>
          <p:cNvSpPr txBox="1"/>
          <p:nvPr/>
        </p:nvSpPr>
        <p:spPr>
          <a:xfrm>
            <a:off x="11817675" y="6457890"/>
            <a:ext cx="374325" cy="400110"/>
          </a:xfrm>
          <a:prstGeom prst="rect">
            <a:avLst/>
          </a:prstGeom>
          <a:noFill/>
        </p:spPr>
        <p:txBody>
          <a:bodyPr wrap="square" rtlCol="0">
            <a:spAutoFit/>
          </a:bodyPr>
          <a:lstStyle/>
          <a:p>
            <a:r>
              <a:rPr lang="es-EC" sz="2000" dirty="0"/>
              <a:t>3</a:t>
            </a:r>
          </a:p>
        </p:txBody>
      </p:sp>
    </p:spTree>
    <p:extLst>
      <p:ext uri="{BB962C8B-B14F-4D97-AF65-F5344CB8AC3E}">
        <p14:creationId xmlns:p14="http://schemas.microsoft.com/office/powerpoint/2010/main" val="3092708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9BA5D-F15B-4359-A181-C9103E168E57}"/>
              </a:ext>
            </a:extLst>
          </p:cNvPr>
          <p:cNvSpPr>
            <a:spLocks noGrp="1"/>
          </p:cNvSpPr>
          <p:nvPr>
            <p:ph type="title"/>
          </p:nvPr>
        </p:nvSpPr>
        <p:spPr>
          <a:xfrm>
            <a:off x="581192" y="702156"/>
            <a:ext cx="8434621" cy="1013800"/>
          </a:xfrm>
        </p:spPr>
        <p:txBody>
          <a:bodyPr>
            <a:noAutofit/>
          </a:bodyPr>
          <a:lstStyle/>
          <a:p>
            <a:r>
              <a:rPr lang="es-ES" sz="1800" dirty="0"/>
              <a:t>Para la elaboración del proyecto, en primer lugar, se debe crear una carpeta donde se vaya a almacenar los archivos necesarios para su funcionamiento.</a:t>
            </a:r>
          </a:p>
        </p:txBody>
      </p:sp>
      <p:sp>
        <p:nvSpPr>
          <p:cNvPr id="5" name="Marcador de contenido 2">
            <a:extLst>
              <a:ext uri="{FF2B5EF4-FFF2-40B4-BE49-F238E27FC236}">
                <a16:creationId xmlns:a16="http://schemas.microsoft.com/office/drawing/2014/main" id="{5FA1E8E5-FD2D-4BD0-AA9A-D003145D602F}"/>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b="1" dirty="0">
                <a:solidFill>
                  <a:srgbClr val="FFFF00"/>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10" name="CuadroTexto 9">
            <a:extLst>
              <a:ext uri="{FF2B5EF4-FFF2-40B4-BE49-F238E27FC236}">
                <a16:creationId xmlns:a16="http://schemas.microsoft.com/office/drawing/2014/main" id="{E8C681FB-C837-4CC5-ACFB-328816DC701B}"/>
              </a:ext>
            </a:extLst>
          </p:cNvPr>
          <p:cNvSpPr txBox="1"/>
          <p:nvPr/>
        </p:nvSpPr>
        <p:spPr>
          <a:xfrm>
            <a:off x="11817675" y="6457890"/>
            <a:ext cx="374325" cy="400110"/>
          </a:xfrm>
          <a:prstGeom prst="rect">
            <a:avLst/>
          </a:prstGeom>
          <a:noFill/>
        </p:spPr>
        <p:txBody>
          <a:bodyPr wrap="square" rtlCol="0">
            <a:spAutoFit/>
          </a:bodyPr>
          <a:lstStyle/>
          <a:p>
            <a:r>
              <a:rPr lang="es-EC" sz="2000" dirty="0">
                <a:solidFill>
                  <a:schemeClr val="bg1"/>
                </a:solidFill>
              </a:rPr>
              <a:t>4</a:t>
            </a:r>
          </a:p>
        </p:txBody>
      </p:sp>
      <p:pic>
        <p:nvPicPr>
          <p:cNvPr id="8" name="Picture 7">
            <a:extLst>
              <a:ext uri="{FF2B5EF4-FFF2-40B4-BE49-F238E27FC236}">
                <a16:creationId xmlns:a16="http://schemas.microsoft.com/office/drawing/2014/main" id="{8AB37135-F1A2-482A-8F24-4F40EB15DB33}"/>
              </a:ext>
            </a:extLst>
          </p:cNvPr>
          <p:cNvPicPr>
            <a:picLocks noChangeAspect="1"/>
          </p:cNvPicPr>
          <p:nvPr/>
        </p:nvPicPr>
        <p:blipFill>
          <a:blip r:embed="rId2"/>
          <a:stretch>
            <a:fillRect/>
          </a:stretch>
        </p:blipFill>
        <p:spPr>
          <a:xfrm>
            <a:off x="1492865" y="2146832"/>
            <a:ext cx="6611273" cy="1467055"/>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pic>
        <p:nvPicPr>
          <p:cNvPr id="12" name="Picture 11">
            <a:extLst>
              <a:ext uri="{FF2B5EF4-FFF2-40B4-BE49-F238E27FC236}">
                <a16:creationId xmlns:a16="http://schemas.microsoft.com/office/drawing/2014/main" id="{EFF7E2D1-CD9C-4757-A3DE-0CB18FB0AD4C}"/>
              </a:ext>
            </a:extLst>
          </p:cNvPr>
          <p:cNvPicPr>
            <a:picLocks noChangeAspect="1"/>
          </p:cNvPicPr>
          <p:nvPr/>
        </p:nvPicPr>
        <p:blipFill>
          <a:blip r:embed="rId3"/>
          <a:stretch>
            <a:fillRect/>
          </a:stretch>
        </p:blipFill>
        <p:spPr>
          <a:xfrm>
            <a:off x="1912023" y="3837619"/>
            <a:ext cx="5772956" cy="2524477"/>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Tree>
    <p:extLst>
      <p:ext uri="{BB962C8B-B14F-4D97-AF65-F5344CB8AC3E}">
        <p14:creationId xmlns:p14="http://schemas.microsoft.com/office/powerpoint/2010/main" val="4206259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566B89-C470-4C69-8689-38673C7B7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0708B1-1822-4D0E-B3F8-BF6E36438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90" y="457201"/>
            <a:ext cx="7363959"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1EAB69CE-6296-4D71-8DB3-BF71FD518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39774" y="453643"/>
            <a:ext cx="329184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3">
            <a:extLst>
              <a:ext uri="{FF2B5EF4-FFF2-40B4-BE49-F238E27FC236}">
                <a16:creationId xmlns:a16="http://schemas.microsoft.com/office/drawing/2014/main" id="{45B34FBD-A817-4E6B-8CD9-1BCA9CB67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89" y="681070"/>
            <a:ext cx="7363960" cy="56933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996381" y="1152939"/>
            <a:ext cx="6583680" cy="4539113"/>
          </a:xfrm>
        </p:spPr>
        <p:txBody>
          <a:bodyPr anchor="ctr">
            <a:normAutofit/>
          </a:bodyPr>
          <a:lstStyle/>
          <a:p>
            <a:r>
              <a:rPr lang="es-ES" sz="5400" dirty="0">
                <a:solidFill>
                  <a:srgbClr val="FFFFFF"/>
                </a:solidFill>
              </a:rPr>
              <a:t>APLICACIÓN DE SERVIDOR</a:t>
            </a:r>
          </a:p>
        </p:txBody>
      </p:sp>
      <p:sp>
        <p:nvSpPr>
          <p:cNvPr id="20" name="CuadroTexto 19">
            <a:extLst>
              <a:ext uri="{FF2B5EF4-FFF2-40B4-BE49-F238E27FC236}">
                <a16:creationId xmlns:a16="http://schemas.microsoft.com/office/drawing/2014/main" id="{63D2310E-26B1-4889-8EDE-811C71ECE2B7}"/>
              </a:ext>
            </a:extLst>
          </p:cNvPr>
          <p:cNvSpPr txBox="1"/>
          <p:nvPr/>
        </p:nvSpPr>
        <p:spPr>
          <a:xfrm>
            <a:off x="11817675" y="6457890"/>
            <a:ext cx="374325" cy="400110"/>
          </a:xfrm>
          <a:prstGeom prst="rect">
            <a:avLst/>
          </a:prstGeom>
          <a:noFill/>
        </p:spPr>
        <p:txBody>
          <a:bodyPr wrap="square" rtlCol="0">
            <a:spAutoFit/>
          </a:bodyPr>
          <a:lstStyle/>
          <a:p>
            <a:r>
              <a:rPr lang="es-EC" sz="2000" dirty="0"/>
              <a:t>5</a:t>
            </a:r>
          </a:p>
        </p:txBody>
      </p:sp>
    </p:spTree>
    <p:extLst>
      <p:ext uri="{BB962C8B-B14F-4D97-AF65-F5344CB8AC3E}">
        <p14:creationId xmlns:p14="http://schemas.microsoft.com/office/powerpoint/2010/main" val="1147188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b="1" dirty="0">
                <a:solidFill>
                  <a:srgbClr val="FFFF00"/>
                </a:solidFill>
              </a:rPr>
              <a:t>APLICACIÓN SERVIDOR</a:t>
            </a:r>
          </a:p>
          <a:p>
            <a:pPr lvl="1">
              <a:lnSpc>
                <a:spcPct val="90000"/>
              </a:lnSpc>
            </a:pPr>
            <a:r>
              <a:rPr lang="es-ES" sz="900" b="1" dirty="0">
                <a:solidFill>
                  <a:srgbClr val="FFFF00"/>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rmAutofit/>
          </a:bodyPr>
          <a:lstStyle/>
          <a:p>
            <a:r>
              <a:rPr lang="es-ES" dirty="0"/>
              <a:t>APLICACIÓN SERVIDOR</a:t>
            </a:r>
            <a:br>
              <a:rPr lang="es-ES" dirty="0"/>
            </a:br>
            <a:r>
              <a:rPr lang="es-ES" sz="2400" dirty="0"/>
              <a:t>CREACIÓN DEL PROYECTO SERVIDOR</a:t>
            </a:r>
            <a:endParaRPr lang="es-ES" dirty="0"/>
          </a:p>
        </p:txBody>
      </p:sp>
      <p:sp>
        <p:nvSpPr>
          <p:cNvPr id="8" name="CuadroTexto 7">
            <a:extLst>
              <a:ext uri="{FF2B5EF4-FFF2-40B4-BE49-F238E27FC236}">
                <a16:creationId xmlns:a16="http://schemas.microsoft.com/office/drawing/2014/main" id="{4E8F99F6-FEFB-410C-A159-8D600C3D6FCE}"/>
              </a:ext>
            </a:extLst>
          </p:cNvPr>
          <p:cNvSpPr txBox="1"/>
          <p:nvPr/>
        </p:nvSpPr>
        <p:spPr>
          <a:xfrm>
            <a:off x="11817675" y="6457890"/>
            <a:ext cx="374325" cy="400110"/>
          </a:xfrm>
          <a:prstGeom prst="rect">
            <a:avLst/>
          </a:prstGeom>
          <a:noFill/>
        </p:spPr>
        <p:txBody>
          <a:bodyPr wrap="square" rtlCol="0">
            <a:spAutoFit/>
          </a:bodyPr>
          <a:lstStyle/>
          <a:p>
            <a:r>
              <a:rPr lang="es-EC" sz="2000" dirty="0">
                <a:solidFill>
                  <a:schemeClr val="bg1"/>
                </a:solidFill>
              </a:rPr>
              <a:t>6</a:t>
            </a:r>
          </a:p>
        </p:txBody>
      </p:sp>
      <p:pic>
        <p:nvPicPr>
          <p:cNvPr id="10" name="Picture 9" descr="A screenshot of a computer program&#10;&#10;Description automatically generated">
            <a:extLst>
              <a:ext uri="{FF2B5EF4-FFF2-40B4-BE49-F238E27FC236}">
                <a16:creationId xmlns:a16="http://schemas.microsoft.com/office/drawing/2014/main" id="{9942B651-4651-C583-3699-4DE093F3F2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7626" y="3065820"/>
            <a:ext cx="4491739" cy="3090024"/>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12" name="Marcador de contenido 7">
            <a:extLst>
              <a:ext uri="{FF2B5EF4-FFF2-40B4-BE49-F238E27FC236}">
                <a16:creationId xmlns:a16="http://schemas.microsoft.com/office/drawing/2014/main" id="{3E422444-6036-4D6B-BA0E-0D45305F33B3}"/>
              </a:ext>
            </a:extLst>
          </p:cNvPr>
          <p:cNvSpPr>
            <a:spLocks noGrp="1"/>
          </p:cNvSpPr>
          <p:nvPr>
            <p:ph idx="1"/>
          </p:nvPr>
        </p:nvSpPr>
        <p:spPr>
          <a:xfrm>
            <a:off x="461551" y="1961579"/>
            <a:ext cx="8477350" cy="781621"/>
          </a:xfrm>
        </p:spPr>
        <p:txBody>
          <a:bodyPr>
            <a:normAutofit/>
          </a:bodyPr>
          <a:lstStyle/>
          <a:p>
            <a:pPr marL="0" indent="0" algn="just">
              <a:buNone/>
            </a:pPr>
            <a:r>
              <a:rPr lang="es-ES" dirty="0">
                <a:solidFill>
                  <a:schemeClr val="tx1"/>
                </a:solidFill>
              </a:rPr>
              <a:t>Crear el servidor de la aplicación, este debe ser necesariamente web, además de que debe ser creado y guardado en la carpeta 01. SERVIDOR.</a:t>
            </a:r>
          </a:p>
        </p:txBody>
      </p:sp>
    </p:spTree>
    <p:extLst>
      <p:ext uri="{BB962C8B-B14F-4D97-AF65-F5344CB8AC3E}">
        <p14:creationId xmlns:p14="http://schemas.microsoft.com/office/powerpoint/2010/main" val="2045499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b="1" dirty="0">
                <a:solidFill>
                  <a:srgbClr val="FFFF00"/>
                </a:solidFill>
              </a:rPr>
              <a:t>APLICACIÓN SERVIDOR</a:t>
            </a:r>
          </a:p>
          <a:p>
            <a:pPr lvl="1">
              <a:lnSpc>
                <a:spcPct val="90000"/>
              </a:lnSpc>
            </a:pPr>
            <a:r>
              <a:rPr lang="es-ES" sz="900" b="1" dirty="0">
                <a:solidFill>
                  <a:srgbClr val="FFFF00"/>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800" cap="none" dirty="0"/>
              <a:t>Se procede a configurar el nombre y la ubicación de la aplicación servidor, para los ajustes del servidor escoger de preferencia la version 5 de payara y no seleccionar ningún Framework.</a:t>
            </a:r>
          </a:p>
        </p:txBody>
      </p:sp>
      <p:sp>
        <p:nvSpPr>
          <p:cNvPr id="8" name="CuadroTexto 7">
            <a:extLst>
              <a:ext uri="{FF2B5EF4-FFF2-40B4-BE49-F238E27FC236}">
                <a16:creationId xmlns:a16="http://schemas.microsoft.com/office/drawing/2014/main" id="{4E8F99F6-FEFB-410C-A159-8D600C3D6FCE}"/>
              </a:ext>
            </a:extLst>
          </p:cNvPr>
          <p:cNvSpPr txBox="1"/>
          <p:nvPr/>
        </p:nvSpPr>
        <p:spPr>
          <a:xfrm>
            <a:off x="11817675" y="6457890"/>
            <a:ext cx="374325" cy="400110"/>
          </a:xfrm>
          <a:prstGeom prst="rect">
            <a:avLst/>
          </a:prstGeom>
          <a:noFill/>
        </p:spPr>
        <p:txBody>
          <a:bodyPr wrap="square" rtlCol="0">
            <a:spAutoFit/>
          </a:bodyPr>
          <a:lstStyle/>
          <a:p>
            <a:r>
              <a:rPr lang="es-EC" sz="2000" dirty="0">
                <a:solidFill>
                  <a:schemeClr val="bg1"/>
                </a:solidFill>
              </a:rPr>
              <a:t>7</a:t>
            </a:r>
          </a:p>
        </p:txBody>
      </p:sp>
      <p:pic>
        <p:nvPicPr>
          <p:cNvPr id="3" name="Picture 2" descr="A screenshot of a computer program&#10;&#10;Description automatically generated">
            <a:extLst>
              <a:ext uri="{FF2B5EF4-FFF2-40B4-BE49-F238E27FC236}">
                <a16:creationId xmlns:a16="http://schemas.microsoft.com/office/drawing/2014/main" id="{8683002E-14F9-2B6F-0513-F2CC84B5FB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0309" y="2309980"/>
            <a:ext cx="5516578" cy="368517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Tree>
    <p:extLst>
      <p:ext uri="{BB962C8B-B14F-4D97-AF65-F5344CB8AC3E}">
        <p14:creationId xmlns:p14="http://schemas.microsoft.com/office/powerpoint/2010/main" val="2281094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Crear los paquetes necesarios para la aplicación basándose en MVC, los cuales son modelo, controlador, la vista se omite debido a que es una aplicación de servidor y las pruebas se ubicaran en el paquete Test Packages.</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b="1" dirty="0">
                <a:solidFill>
                  <a:srgbClr val="FFFF00"/>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4" name="CuadroTexto 7">
            <a:extLst>
              <a:ext uri="{FF2B5EF4-FFF2-40B4-BE49-F238E27FC236}">
                <a16:creationId xmlns:a16="http://schemas.microsoft.com/office/drawing/2014/main" id="{341DE38D-B862-6695-440D-A823DF108366}"/>
              </a:ext>
            </a:extLst>
          </p:cNvPr>
          <p:cNvSpPr txBox="1"/>
          <p:nvPr/>
        </p:nvSpPr>
        <p:spPr>
          <a:xfrm>
            <a:off x="11817675" y="6457890"/>
            <a:ext cx="374325" cy="400110"/>
          </a:xfrm>
          <a:prstGeom prst="rect">
            <a:avLst/>
          </a:prstGeom>
          <a:noFill/>
        </p:spPr>
        <p:txBody>
          <a:bodyPr wrap="square" rtlCol="0">
            <a:spAutoFit/>
          </a:bodyPr>
          <a:lstStyle/>
          <a:p>
            <a:r>
              <a:rPr lang="es-EC" sz="2000" dirty="0">
                <a:solidFill>
                  <a:schemeClr val="bg1"/>
                </a:solidFill>
              </a:rPr>
              <a:t>8</a:t>
            </a:r>
          </a:p>
        </p:txBody>
      </p:sp>
      <p:pic>
        <p:nvPicPr>
          <p:cNvPr id="7" name="Picture 6">
            <a:extLst>
              <a:ext uri="{FF2B5EF4-FFF2-40B4-BE49-F238E27FC236}">
                <a16:creationId xmlns:a16="http://schemas.microsoft.com/office/drawing/2014/main" id="{BEA2AD9B-D9E9-43B4-AAEC-247771BE846C}"/>
              </a:ext>
            </a:extLst>
          </p:cNvPr>
          <p:cNvPicPr>
            <a:picLocks noChangeAspect="1"/>
          </p:cNvPicPr>
          <p:nvPr/>
        </p:nvPicPr>
        <p:blipFill>
          <a:blip r:embed="rId2"/>
          <a:stretch>
            <a:fillRect/>
          </a:stretch>
        </p:blipFill>
        <p:spPr>
          <a:xfrm>
            <a:off x="4592231" y="2030989"/>
            <a:ext cx="4128273" cy="3410426"/>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Tree>
    <p:extLst>
      <p:ext uri="{BB962C8B-B14F-4D97-AF65-F5344CB8AC3E}">
        <p14:creationId xmlns:p14="http://schemas.microsoft.com/office/powerpoint/2010/main" val="2192766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b="1" dirty="0">
                <a:solidFill>
                  <a:srgbClr val="FFFF00"/>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800" cap="none" dirty="0"/>
              <a:t>Para la lógica de conversión de unidades, en la clase </a:t>
            </a:r>
            <a:r>
              <a:rPr lang="es-ES" sz="1800" cap="none" dirty="0" err="1"/>
              <a:t>UnitConversionModel</a:t>
            </a:r>
            <a:r>
              <a:rPr lang="es-ES" sz="1800" cap="none" dirty="0"/>
              <a:t> se implementan las funciones para convertir centímetros a pulgadas y viceversa.</a:t>
            </a:r>
          </a:p>
        </p:txBody>
      </p:sp>
      <p:sp>
        <p:nvSpPr>
          <p:cNvPr id="8" name="CuadroTexto 7">
            <a:extLst>
              <a:ext uri="{FF2B5EF4-FFF2-40B4-BE49-F238E27FC236}">
                <a16:creationId xmlns:a16="http://schemas.microsoft.com/office/drawing/2014/main" id="{4E8F99F6-FEFB-410C-A159-8D600C3D6FCE}"/>
              </a:ext>
            </a:extLst>
          </p:cNvPr>
          <p:cNvSpPr txBox="1"/>
          <p:nvPr/>
        </p:nvSpPr>
        <p:spPr>
          <a:xfrm>
            <a:off x="11817675" y="6457890"/>
            <a:ext cx="374325" cy="400110"/>
          </a:xfrm>
          <a:prstGeom prst="rect">
            <a:avLst/>
          </a:prstGeom>
          <a:noFill/>
        </p:spPr>
        <p:txBody>
          <a:bodyPr wrap="square" rtlCol="0">
            <a:spAutoFit/>
          </a:bodyPr>
          <a:lstStyle/>
          <a:p>
            <a:r>
              <a:rPr lang="es-EC" sz="2000" dirty="0">
                <a:solidFill>
                  <a:schemeClr val="bg1"/>
                </a:solidFill>
              </a:rPr>
              <a:t>9</a:t>
            </a:r>
          </a:p>
        </p:txBody>
      </p:sp>
      <p:pic>
        <p:nvPicPr>
          <p:cNvPr id="4" name="Picture 3" descr="A screenshot of a computer program&#10;&#10;Description automatically generated">
            <a:extLst>
              <a:ext uri="{FF2B5EF4-FFF2-40B4-BE49-F238E27FC236}">
                <a16:creationId xmlns:a16="http://schemas.microsoft.com/office/drawing/2014/main" id="{69336831-83D6-AEE5-AC54-9E5E045174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12586" y="2253454"/>
            <a:ext cx="6001377" cy="390239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Tree>
    <p:extLst>
      <p:ext uri="{BB962C8B-B14F-4D97-AF65-F5344CB8AC3E}">
        <p14:creationId xmlns:p14="http://schemas.microsoft.com/office/powerpoint/2010/main" val="2766162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b="1" dirty="0">
                <a:solidFill>
                  <a:srgbClr val="FFFF00"/>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800" cap="none" dirty="0"/>
              <a:t>A continuación, se realiza la codificación de los métodos que serán los encargados de manejar las solicitudes que se realicen al web </a:t>
            </a:r>
            <a:r>
              <a:rPr lang="es-ES" sz="1800" cap="none" dirty="0" err="1"/>
              <a:t>service</a:t>
            </a:r>
            <a:r>
              <a:rPr lang="es-ES" sz="1800" cap="none" dirty="0"/>
              <a:t> SOAP para la conversión de unidades.</a:t>
            </a:r>
          </a:p>
        </p:txBody>
      </p:sp>
      <p:sp>
        <p:nvSpPr>
          <p:cNvPr id="8" name="CuadroTexto 7">
            <a:extLst>
              <a:ext uri="{FF2B5EF4-FFF2-40B4-BE49-F238E27FC236}">
                <a16:creationId xmlns:a16="http://schemas.microsoft.com/office/drawing/2014/main" id="{4E8F99F6-FEFB-410C-A159-8D600C3D6FCE}"/>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10</a:t>
            </a:r>
          </a:p>
        </p:txBody>
      </p:sp>
      <p:pic>
        <p:nvPicPr>
          <p:cNvPr id="3" name="Picture 2" descr="A screenshot of a computer program&#10;&#10;Description automatically generated">
            <a:extLst>
              <a:ext uri="{FF2B5EF4-FFF2-40B4-BE49-F238E27FC236}">
                <a16:creationId xmlns:a16="http://schemas.microsoft.com/office/drawing/2014/main" id="{EEE2AEFB-42B4-3306-A5E8-D1FDB1CEB59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01812" y="2261117"/>
            <a:ext cx="4436110" cy="414274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Tree>
    <p:extLst>
      <p:ext uri="{BB962C8B-B14F-4D97-AF65-F5344CB8AC3E}">
        <p14:creationId xmlns:p14="http://schemas.microsoft.com/office/powerpoint/2010/main" val="2152683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b="1" dirty="0">
                <a:solidFill>
                  <a:srgbClr val="FFFF00"/>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800" cap="none" dirty="0"/>
              <a:t>A continuación, se procede a crear una nueva clase en el paquete de pruebas que se llama </a:t>
            </a:r>
            <a:r>
              <a:rPr lang="es-ES" sz="1800" cap="none" dirty="0" err="1"/>
              <a:t>PruebaConexionBD</a:t>
            </a:r>
            <a:r>
              <a:rPr lang="es-ES" sz="1800" cap="none" dirty="0"/>
              <a:t>.</a:t>
            </a:r>
          </a:p>
        </p:txBody>
      </p:sp>
      <p:pic>
        <p:nvPicPr>
          <p:cNvPr id="4" name="Picture 3" descr="A screenshot of a computer&#10;&#10;Description automatically generated">
            <a:extLst>
              <a:ext uri="{FF2B5EF4-FFF2-40B4-BE49-F238E27FC236}">
                <a16:creationId xmlns:a16="http://schemas.microsoft.com/office/drawing/2014/main" id="{B75EC00B-D428-B8CE-6C03-2D913445716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97590" y="2182276"/>
            <a:ext cx="5150861" cy="3973568"/>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86CAA9DC-FD9C-406B-36E9-D21BDC418C89}"/>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11</a:t>
            </a:r>
          </a:p>
        </p:txBody>
      </p:sp>
    </p:spTree>
    <p:extLst>
      <p:ext uri="{BB962C8B-B14F-4D97-AF65-F5344CB8AC3E}">
        <p14:creationId xmlns:p14="http://schemas.microsoft.com/office/powerpoint/2010/main" val="4163506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b="1" dirty="0">
                <a:solidFill>
                  <a:srgbClr val="FFFF00"/>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800" cap="none" dirty="0"/>
              <a:t>Al finalizar la ejecución de las pruebas unitarias, se debe mostrar el siguiente recuadro con los resultados de las pruebas.</a:t>
            </a:r>
          </a:p>
        </p:txBody>
      </p:sp>
      <p:pic>
        <p:nvPicPr>
          <p:cNvPr id="3" name="Picture 2" descr="A screenshot of a computer&#10;&#10;Description automatically generated">
            <a:extLst>
              <a:ext uri="{FF2B5EF4-FFF2-40B4-BE49-F238E27FC236}">
                <a16:creationId xmlns:a16="http://schemas.microsoft.com/office/drawing/2014/main" id="{C6B7FFE3-B247-02C4-3D01-6349D78053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33151" y="2151264"/>
            <a:ext cx="5973431" cy="4141579"/>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232EAC82-F8A8-05A4-65BB-B4389CA0AC31}"/>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12</a:t>
            </a:r>
          </a:p>
        </p:txBody>
      </p:sp>
    </p:spTree>
    <p:extLst>
      <p:ext uri="{BB962C8B-B14F-4D97-AF65-F5344CB8AC3E}">
        <p14:creationId xmlns:p14="http://schemas.microsoft.com/office/powerpoint/2010/main" val="1387869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b="1" dirty="0">
                <a:solidFill>
                  <a:srgbClr val="FFFF00"/>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b="1" dirty="0">
                <a:solidFill>
                  <a:srgbClr val="FFFF00"/>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realizar pruebas sobre los webs services implementados, primero se debe de ejecutar la aplicación, luego dar clic derecho sobre cualquiera de los webs services para que se abra el siguiente panel.</a:t>
            </a:r>
          </a:p>
        </p:txBody>
      </p:sp>
      <p:pic>
        <p:nvPicPr>
          <p:cNvPr id="4" name="Picture 3" descr="A screenshot of a computer&#10;&#10;Description automatically generated">
            <a:extLst>
              <a:ext uri="{FF2B5EF4-FFF2-40B4-BE49-F238E27FC236}">
                <a16:creationId xmlns:a16="http://schemas.microsoft.com/office/drawing/2014/main" id="{BE52BA8A-B3C3-023C-2FB9-A4574E1DAD7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22417" y="2171613"/>
            <a:ext cx="6022282" cy="3984231"/>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F309D73C-033C-233B-DA08-147001880084}"/>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13</a:t>
            </a:r>
          </a:p>
        </p:txBody>
      </p:sp>
    </p:spTree>
    <p:extLst>
      <p:ext uri="{BB962C8B-B14F-4D97-AF65-F5344CB8AC3E}">
        <p14:creationId xmlns:p14="http://schemas.microsoft.com/office/powerpoint/2010/main" val="2796002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566B89-C470-4C69-8689-38673C7B7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0708B1-1822-4D0E-B3F8-BF6E36438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90" y="457201"/>
            <a:ext cx="7363959"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1EAB69CE-6296-4D71-8DB3-BF71FD518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39774" y="453643"/>
            <a:ext cx="329184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3">
            <a:extLst>
              <a:ext uri="{FF2B5EF4-FFF2-40B4-BE49-F238E27FC236}">
                <a16:creationId xmlns:a16="http://schemas.microsoft.com/office/drawing/2014/main" id="{45B34FBD-A817-4E6B-8CD9-1BCA9CB67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89" y="681070"/>
            <a:ext cx="7363960" cy="56933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996381" y="1152939"/>
            <a:ext cx="6583680" cy="4539113"/>
          </a:xfrm>
        </p:spPr>
        <p:txBody>
          <a:bodyPr anchor="ctr">
            <a:normAutofit/>
          </a:bodyPr>
          <a:lstStyle/>
          <a:p>
            <a:r>
              <a:rPr lang="es-ES" sz="5400" dirty="0">
                <a:solidFill>
                  <a:srgbClr val="FFFFFF"/>
                </a:solidFill>
              </a:rPr>
              <a:t>APLICACIÓN CLIENTE CONSOLA</a:t>
            </a:r>
          </a:p>
        </p:txBody>
      </p:sp>
      <p:sp>
        <p:nvSpPr>
          <p:cNvPr id="6" name="CuadroTexto 7">
            <a:extLst>
              <a:ext uri="{FF2B5EF4-FFF2-40B4-BE49-F238E27FC236}">
                <a16:creationId xmlns:a16="http://schemas.microsoft.com/office/drawing/2014/main" id="{26D557FD-07FE-31B4-7E0B-5A6AF9C58CA7}"/>
              </a:ext>
            </a:extLst>
          </p:cNvPr>
          <p:cNvSpPr txBox="1"/>
          <p:nvPr/>
        </p:nvSpPr>
        <p:spPr>
          <a:xfrm>
            <a:off x="11696007" y="6457890"/>
            <a:ext cx="495993" cy="400110"/>
          </a:xfrm>
          <a:prstGeom prst="rect">
            <a:avLst/>
          </a:prstGeom>
          <a:noFill/>
        </p:spPr>
        <p:txBody>
          <a:bodyPr wrap="square" rtlCol="0">
            <a:spAutoFit/>
          </a:bodyPr>
          <a:lstStyle/>
          <a:p>
            <a:r>
              <a:rPr lang="es-EC" sz="2000" dirty="0"/>
              <a:t>14</a:t>
            </a:r>
          </a:p>
        </p:txBody>
      </p:sp>
    </p:spTree>
    <p:extLst>
      <p:ext uri="{BB962C8B-B14F-4D97-AF65-F5344CB8AC3E}">
        <p14:creationId xmlns:p14="http://schemas.microsoft.com/office/powerpoint/2010/main" val="351115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CONSOLA</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la aplicación cliente de consola, seleccionamos un nuevo proyecto y damos clic en Java </a:t>
            </a:r>
            <a:r>
              <a:rPr lang="es-ES" sz="1600" cap="none" dirty="0" err="1"/>
              <a:t>with</a:t>
            </a:r>
            <a:r>
              <a:rPr lang="es-ES" sz="1600" cap="none" dirty="0"/>
              <a:t> </a:t>
            </a:r>
            <a:r>
              <a:rPr lang="es-ES" sz="1600" cap="none" dirty="0" err="1"/>
              <a:t>Ant</a:t>
            </a:r>
            <a:r>
              <a:rPr lang="es-ES" sz="1600" cap="none" dirty="0"/>
              <a:t> &gt; Java Aplicación.</a:t>
            </a:r>
          </a:p>
        </p:txBody>
      </p:sp>
      <p:pic>
        <p:nvPicPr>
          <p:cNvPr id="3" name="Picture 2" descr="A screenshot of a computer program&#10;&#10;Description automatically generated">
            <a:extLst>
              <a:ext uri="{FF2B5EF4-FFF2-40B4-BE49-F238E27FC236}">
                <a16:creationId xmlns:a16="http://schemas.microsoft.com/office/drawing/2014/main" id="{CC070F2B-99DB-046D-622F-D46FA6EFCA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14910" y="2191328"/>
            <a:ext cx="6023992" cy="4144124"/>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1050FA4B-0DC6-2B88-9AB2-0F0DF61D539E}"/>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15</a:t>
            </a:r>
          </a:p>
        </p:txBody>
      </p:sp>
    </p:spTree>
    <p:extLst>
      <p:ext uri="{BB962C8B-B14F-4D97-AF65-F5344CB8AC3E}">
        <p14:creationId xmlns:p14="http://schemas.microsoft.com/office/powerpoint/2010/main" val="552476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CONSOLA</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Antes de crear la estructura para el cliente consola, se van a crear las referencias a los Web Services que se implementaron en la aplicación de servidor. Para crear las referencias hacer clic derecho sobre el proyecto &gt; Web Service Client.</a:t>
            </a:r>
          </a:p>
        </p:txBody>
      </p:sp>
      <p:pic>
        <p:nvPicPr>
          <p:cNvPr id="4" name="Picture 3" descr="A screenshot of a computer&#10;&#10;Description automatically generated">
            <a:extLst>
              <a:ext uri="{FF2B5EF4-FFF2-40B4-BE49-F238E27FC236}">
                <a16:creationId xmlns:a16="http://schemas.microsoft.com/office/drawing/2014/main" id="{7CE74C5E-879D-9736-E138-5B6716CE5E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8094" y="2161123"/>
            <a:ext cx="6843545" cy="4080635"/>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BABB9E45-3DD7-B233-BB58-7BCF9F769535}"/>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16</a:t>
            </a:r>
          </a:p>
        </p:txBody>
      </p:sp>
    </p:spTree>
    <p:extLst>
      <p:ext uri="{BB962C8B-B14F-4D97-AF65-F5344CB8AC3E}">
        <p14:creationId xmlns:p14="http://schemas.microsoft.com/office/powerpoint/2010/main" val="426354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Una vez creada las referencias a los Web Services, se debe de crear los paquetes y clases correspondientes, de tal forma que se obtenga la siguiente estructura para el cliente de consola.</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6" name="Picture 5" descr="A screenshot of a computer&#10;&#10;Description automatically generated">
            <a:extLst>
              <a:ext uri="{FF2B5EF4-FFF2-40B4-BE49-F238E27FC236}">
                <a16:creationId xmlns:a16="http://schemas.microsoft.com/office/drawing/2014/main" id="{7491A3AE-628E-DC46-A32F-56873BBB92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92231" y="1590585"/>
            <a:ext cx="3941745" cy="3676829"/>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A8E379C4-2E3F-F9AB-D623-27C8D28BFC75}"/>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17</a:t>
            </a:r>
          </a:p>
        </p:txBody>
      </p:sp>
    </p:spTree>
    <p:extLst>
      <p:ext uri="{BB962C8B-B14F-4D97-AF65-F5344CB8AC3E}">
        <p14:creationId xmlns:p14="http://schemas.microsoft.com/office/powerpoint/2010/main" val="1110722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consumir el Web Service de conversión de unidades, en la clase </a:t>
            </a:r>
            <a:r>
              <a:rPr lang="es-ES" sz="1600" cap="none" dirty="0" err="1"/>
              <a:t>WSConversionController</a:t>
            </a:r>
            <a:r>
              <a:rPr lang="es-ES" sz="1600" cap="none" dirty="0"/>
              <a:t> se deben de implementar los siguientes dos métodos.</a:t>
            </a:r>
          </a:p>
        </p:txBody>
      </p:sp>
      <p:pic>
        <p:nvPicPr>
          <p:cNvPr id="3" name="Picture 2" descr="A screen shot of a computer code&#10;&#10;Description automatically generated">
            <a:extLst>
              <a:ext uri="{FF2B5EF4-FFF2-40B4-BE49-F238E27FC236}">
                <a16:creationId xmlns:a16="http://schemas.microsoft.com/office/drawing/2014/main" id="{EB4927BF-1081-1072-E826-B4A62F5F48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4124" y="2614893"/>
            <a:ext cx="7678766" cy="2767764"/>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CD42C441-0405-485A-D75F-92853678EF74}"/>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18</a:t>
            </a:r>
          </a:p>
        </p:txBody>
      </p:sp>
    </p:spTree>
    <p:extLst>
      <p:ext uri="{BB962C8B-B14F-4D97-AF65-F5344CB8AC3E}">
        <p14:creationId xmlns:p14="http://schemas.microsoft.com/office/powerpoint/2010/main" val="3757074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la vista, en la clase principal la cual contine el método main, se debe de implementar el menú de opciones y los métodos necesarios para interactuar con la aplicación de consola.</a:t>
            </a:r>
          </a:p>
        </p:txBody>
      </p:sp>
      <p:pic>
        <p:nvPicPr>
          <p:cNvPr id="4" name="Picture 3" descr="A screen shot of a computer&#10;&#10;Description automatically generated">
            <a:extLst>
              <a:ext uri="{FF2B5EF4-FFF2-40B4-BE49-F238E27FC236}">
                <a16:creationId xmlns:a16="http://schemas.microsoft.com/office/drawing/2014/main" id="{4F2F07F5-0CBF-024B-8C74-8DE0BB78B47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8920" y="2103322"/>
            <a:ext cx="7522311" cy="4239289"/>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70CDF30C-03E6-3790-8C85-DB7082CE6FDC}"/>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19</a:t>
            </a:r>
          </a:p>
        </p:txBody>
      </p:sp>
    </p:spTree>
    <p:extLst>
      <p:ext uri="{BB962C8B-B14F-4D97-AF65-F5344CB8AC3E}">
        <p14:creationId xmlns:p14="http://schemas.microsoft.com/office/powerpoint/2010/main" val="158153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Para crear las pruebas unitarias se debe car clic derecho sobre el paquete controlador &gt; OK. Si no se presenta ningún error, se generan las clases correspondientes en el paquete Test Packages, aquí se implementarán los métodos que establecerán los casos de pruebas unitarias.</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5" name="Picture 4" descr="A screenshot of a computer program&#10;&#10;Description automatically generated">
            <a:extLst>
              <a:ext uri="{FF2B5EF4-FFF2-40B4-BE49-F238E27FC236}">
                <a16:creationId xmlns:a16="http://schemas.microsoft.com/office/drawing/2014/main" id="{BDB0A934-8765-DB33-BFC2-A245C678E2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83120" y="1074532"/>
            <a:ext cx="3462858" cy="4708936"/>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E3337F4E-0CB5-0FBD-1627-154C3A57F4FB}"/>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20</a:t>
            </a:r>
          </a:p>
        </p:txBody>
      </p:sp>
    </p:spTree>
    <p:extLst>
      <p:ext uri="{BB962C8B-B14F-4D97-AF65-F5344CB8AC3E}">
        <p14:creationId xmlns:p14="http://schemas.microsoft.com/office/powerpoint/2010/main" val="3638209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Si los casos de prueba se ejecutaron con éxito, se mostrar un cuadro con los resultados correspondientes.</a:t>
            </a:r>
          </a:p>
        </p:txBody>
      </p:sp>
      <p:pic>
        <p:nvPicPr>
          <p:cNvPr id="3" name="Picture 2" descr="A screenshot of a computer&#10;&#10;Description automatically generated">
            <a:extLst>
              <a:ext uri="{FF2B5EF4-FFF2-40B4-BE49-F238E27FC236}">
                <a16:creationId xmlns:a16="http://schemas.microsoft.com/office/drawing/2014/main" id="{A4B0885C-200A-3500-6A5F-22A1543DD9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4704" y="2294992"/>
            <a:ext cx="7695576" cy="3832379"/>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15FFD5B4-DB9E-9405-1E43-00A0F203C23E}"/>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21</a:t>
            </a:r>
          </a:p>
        </p:txBody>
      </p:sp>
    </p:spTree>
    <p:extLst>
      <p:ext uri="{BB962C8B-B14F-4D97-AF65-F5344CB8AC3E}">
        <p14:creationId xmlns:p14="http://schemas.microsoft.com/office/powerpoint/2010/main" val="2897906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Para ejecutar el proyecto, se debe dar clic derecho sobre el proyecto &gt; Run. Para ingresar al menú de conversión de unidades, el sistema requiere una contraseña y un usuario. El usuario por defecto es MONSTER y la contraseña es MONSTER9.</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b="1" dirty="0">
                <a:solidFill>
                  <a:srgbClr val="FFFF00"/>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6" name="Picture 5" descr="A screenshot of a computer program&#10;&#10;Description automatically generated">
            <a:extLst>
              <a:ext uri="{FF2B5EF4-FFF2-40B4-BE49-F238E27FC236}">
                <a16:creationId xmlns:a16="http://schemas.microsoft.com/office/drawing/2014/main" id="{86450D3F-8A41-1F1C-054D-3B7DD8EC227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96483" y="732357"/>
            <a:ext cx="4274255" cy="5393286"/>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9471CC44-6EF4-329C-8522-BE97CE91DBB8}"/>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22</a:t>
            </a:r>
          </a:p>
        </p:txBody>
      </p:sp>
    </p:spTree>
    <p:extLst>
      <p:ext uri="{BB962C8B-B14F-4D97-AF65-F5344CB8AC3E}">
        <p14:creationId xmlns:p14="http://schemas.microsoft.com/office/powerpoint/2010/main" val="820497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566B89-C470-4C69-8689-38673C7B7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0708B1-1822-4D0E-B3F8-BF6E36438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90" y="457201"/>
            <a:ext cx="7363959"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1EAB69CE-6296-4D71-8DB3-BF71FD518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39774" y="453643"/>
            <a:ext cx="329184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3">
            <a:extLst>
              <a:ext uri="{FF2B5EF4-FFF2-40B4-BE49-F238E27FC236}">
                <a16:creationId xmlns:a16="http://schemas.microsoft.com/office/drawing/2014/main" id="{45B34FBD-A817-4E6B-8CD9-1BCA9CB67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89" y="681070"/>
            <a:ext cx="7363960" cy="56933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996381" y="1152939"/>
            <a:ext cx="6583680" cy="4539113"/>
          </a:xfrm>
        </p:spPr>
        <p:txBody>
          <a:bodyPr anchor="ctr">
            <a:normAutofit/>
          </a:bodyPr>
          <a:lstStyle/>
          <a:p>
            <a:r>
              <a:rPr lang="es-ES" sz="5400" dirty="0">
                <a:solidFill>
                  <a:srgbClr val="FFFFFF"/>
                </a:solidFill>
              </a:rPr>
              <a:t>APLICACIÓN CLIENTE ESCRITORIO</a:t>
            </a:r>
          </a:p>
        </p:txBody>
      </p:sp>
      <p:sp>
        <p:nvSpPr>
          <p:cNvPr id="20" name="CuadroTexto 19">
            <a:extLst>
              <a:ext uri="{FF2B5EF4-FFF2-40B4-BE49-F238E27FC236}">
                <a16:creationId xmlns:a16="http://schemas.microsoft.com/office/drawing/2014/main" id="{63D2310E-26B1-4889-8EDE-811C71ECE2B7}"/>
              </a:ext>
            </a:extLst>
          </p:cNvPr>
          <p:cNvSpPr txBox="1"/>
          <p:nvPr/>
        </p:nvSpPr>
        <p:spPr>
          <a:xfrm>
            <a:off x="11687695" y="6457890"/>
            <a:ext cx="504305" cy="400110"/>
          </a:xfrm>
          <a:prstGeom prst="rect">
            <a:avLst/>
          </a:prstGeom>
          <a:noFill/>
        </p:spPr>
        <p:txBody>
          <a:bodyPr wrap="square" rtlCol="0">
            <a:spAutoFit/>
          </a:bodyPr>
          <a:lstStyle/>
          <a:p>
            <a:r>
              <a:rPr lang="es-EC" sz="2000" dirty="0"/>
              <a:t>23</a:t>
            </a:r>
          </a:p>
        </p:txBody>
      </p:sp>
    </p:spTree>
    <p:extLst>
      <p:ext uri="{BB962C8B-B14F-4D97-AF65-F5344CB8AC3E}">
        <p14:creationId xmlns:p14="http://schemas.microsoft.com/office/powerpoint/2010/main" val="3326791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ESCRITORIO</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el cliente de escritorio, en Apache NetBeans se debe dar clic en nuevo proyecto &gt; Java </a:t>
            </a:r>
            <a:r>
              <a:rPr lang="es-ES" sz="1600" cap="none" dirty="0" err="1"/>
              <a:t>with</a:t>
            </a:r>
            <a:r>
              <a:rPr lang="es-ES" sz="1600" cap="none" dirty="0"/>
              <a:t> </a:t>
            </a:r>
            <a:r>
              <a:rPr lang="es-ES" sz="1600" cap="none" dirty="0" err="1"/>
              <a:t>Ant</a:t>
            </a:r>
            <a:r>
              <a:rPr lang="es-ES" sz="1600" cap="none" dirty="0"/>
              <a:t> &gt; Java Application.</a:t>
            </a:r>
          </a:p>
        </p:txBody>
      </p:sp>
      <p:pic>
        <p:nvPicPr>
          <p:cNvPr id="4" name="Picture 3" descr="A screenshot of a computer program&#10;&#10;Description automatically generated">
            <a:extLst>
              <a:ext uri="{FF2B5EF4-FFF2-40B4-BE49-F238E27FC236}">
                <a16:creationId xmlns:a16="http://schemas.microsoft.com/office/drawing/2014/main" id="{0749436D-BEC8-16B1-D523-CCFA17BF08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15092" y="2112412"/>
            <a:ext cx="6209549" cy="4272657"/>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41438D93-B4B9-C7B9-92F0-378839C0684F}"/>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24</a:t>
            </a:r>
          </a:p>
        </p:txBody>
      </p:sp>
    </p:spTree>
    <p:extLst>
      <p:ext uri="{BB962C8B-B14F-4D97-AF65-F5344CB8AC3E}">
        <p14:creationId xmlns:p14="http://schemas.microsoft.com/office/powerpoint/2010/main" val="30380250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ESCRITORIO</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Antes de crear la estructura para el cliente de escritorio, se crearán las referencias a los Web Services, para la conversión de unidades se debe referenciar tal y como se muestra en la siguiente imagen, dando clic derecho sobre el proyecto &gt; New &gt; Web Service Client.</a:t>
            </a:r>
          </a:p>
        </p:txBody>
      </p:sp>
      <p:pic>
        <p:nvPicPr>
          <p:cNvPr id="3" name="Picture 2" descr="A screenshot of a computer&#10;&#10;Description automatically generated">
            <a:extLst>
              <a:ext uri="{FF2B5EF4-FFF2-40B4-BE49-F238E27FC236}">
                <a16:creationId xmlns:a16="http://schemas.microsoft.com/office/drawing/2014/main" id="{ED8159E7-9D6E-461A-24BD-42E7F437EAE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1972" y="2234696"/>
            <a:ext cx="6999056" cy="4173316"/>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5A965E99-5CA4-41A9-0C1C-B91A3DFCEB55}"/>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25</a:t>
            </a:r>
          </a:p>
        </p:txBody>
      </p:sp>
    </p:spTree>
    <p:extLst>
      <p:ext uri="{BB962C8B-B14F-4D97-AF65-F5344CB8AC3E}">
        <p14:creationId xmlns:p14="http://schemas.microsoft.com/office/powerpoint/2010/main" val="1197905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Una vez creadas las referencias a los Web Services, se deben de crear los paquetes y clases correspondientes para el patrón de arquitectura MVC, al final se debe de tener una estructura similar a como se muestra en la siguiente figura.</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5" name="Picture 4" descr="A screenshot of a computer&#10;&#10;Description automatically generated">
            <a:extLst>
              <a:ext uri="{FF2B5EF4-FFF2-40B4-BE49-F238E27FC236}">
                <a16:creationId xmlns:a16="http://schemas.microsoft.com/office/drawing/2014/main" id="{010BB67B-D443-549A-7119-8861DC85FB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75600" y="1927657"/>
            <a:ext cx="3716020" cy="3218815"/>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4ADA4D30-EF3D-DC06-772F-A4B186A77DCB}"/>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26</a:t>
            </a:r>
          </a:p>
        </p:txBody>
      </p:sp>
    </p:spTree>
    <p:extLst>
      <p:ext uri="{BB962C8B-B14F-4D97-AF65-F5344CB8AC3E}">
        <p14:creationId xmlns:p14="http://schemas.microsoft.com/office/powerpoint/2010/main" val="2907789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la vista del inicio de sesión, se debe crear un nuevo JFrame Form, arrastrar los componentes necesarios, nombrarlos e implementar la lógica necesaria.</a:t>
            </a:r>
          </a:p>
        </p:txBody>
      </p:sp>
      <p:sp>
        <p:nvSpPr>
          <p:cNvPr id="8" name="CuadroTexto 7">
            <a:extLst>
              <a:ext uri="{FF2B5EF4-FFF2-40B4-BE49-F238E27FC236}">
                <a16:creationId xmlns:a16="http://schemas.microsoft.com/office/drawing/2014/main" id="{4E8F99F6-FEFB-410C-A159-8D600C3D6FCE}"/>
              </a:ext>
            </a:extLst>
          </p:cNvPr>
          <p:cNvSpPr txBox="1"/>
          <p:nvPr/>
        </p:nvSpPr>
        <p:spPr>
          <a:xfrm>
            <a:off x="11725275" y="6457890"/>
            <a:ext cx="466725" cy="400110"/>
          </a:xfrm>
          <a:prstGeom prst="rect">
            <a:avLst/>
          </a:prstGeom>
          <a:noFill/>
        </p:spPr>
        <p:txBody>
          <a:bodyPr wrap="square" rtlCol="0">
            <a:spAutoFit/>
          </a:bodyPr>
          <a:lstStyle/>
          <a:p>
            <a:r>
              <a:rPr lang="es-EC" sz="2000" dirty="0">
                <a:solidFill>
                  <a:schemeClr val="bg1"/>
                </a:solidFill>
              </a:rPr>
              <a:t>27</a:t>
            </a:r>
          </a:p>
        </p:txBody>
      </p:sp>
      <p:pic>
        <p:nvPicPr>
          <p:cNvPr id="4" name="Picture 3" descr="A screenshot of a computer&#10;&#10;Description automatically generated">
            <a:extLst>
              <a:ext uri="{FF2B5EF4-FFF2-40B4-BE49-F238E27FC236}">
                <a16:creationId xmlns:a16="http://schemas.microsoft.com/office/drawing/2014/main" id="{3724E93A-9728-1AA5-3994-6D19D1BD8CB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9908" y="2215110"/>
            <a:ext cx="7309089" cy="4110875"/>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Tree>
    <p:extLst>
      <p:ext uri="{BB962C8B-B14F-4D97-AF65-F5344CB8AC3E}">
        <p14:creationId xmlns:p14="http://schemas.microsoft.com/office/powerpoint/2010/main" val="1795180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A continuación, se debe crear otro JFrame Form, este será el encargado de implementar la vista para la conversión de unidades.</a:t>
            </a:r>
          </a:p>
        </p:txBody>
      </p:sp>
      <p:pic>
        <p:nvPicPr>
          <p:cNvPr id="3" name="Picture 2" descr="A screenshot of a computer&#10;&#10;Description automatically generated">
            <a:extLst>
              <a:ext uri="{FF2B5EF4-FFF2-40B4-BE49-F238E27FC236}">
                <a16:creationId xmlns:a16="http://schemas.microsoft.com/office/drawing/2014/main" id="{08B3F4C7-80FC-1A2C-4A07-F451280FDFD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3227" y="2101790"/>
            <a:ext cx="7745066" cy="435610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916042E2-728F-40FB-A56F-B895E0DA20E3}"/>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28</a:t>
            </a:r>
          </a:p>
        </p:txBody>
      </p:sp>
    </p:spTree>
    <p:extLst>
      <p:ext uri="{BB962C8B-B14F-4D97-AF65-F5344CB8AC3E}">
        <p14:creationId xmlns:p14="http://schemas.microsoft.com/office/powerpoint/2010/main" val="985427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ejecutar las pruebas unitarias, se debe dar clic derecho sobre el paquete que se generó para las pruebas &gt; Test Package.</a:t>
            </a:r>
          </a:p>
        </p:txBody>
      </p:sp>
      <p:pic>
        <p:nvPicPr>
          <p:cNvPr id="4" name="Picture 3" descr="A screenshot of a computer&#10;&#10;Description automatically generated">
            <a:extLst>
              <a:ext uri="{FF2B5EF4-FFF2-40B4-BE49-F238E27FC236}">
                <a16:creationId xmlns:a16="http://schemas.microsoft.com/office/drawing/2014/main" id="{D1AE3B90-3EDE-2B41-00BF-5127F56B90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53979" y="2118577"/>
            <a:ext cx="6931775" cy="4339313"/>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CA431A54-59F7-5DED-39D9-829CFCCD6EE5}"/>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29</a:t>
            </a:r>
          </a:p>
        </p:txBody>
      </p:sp>
    </p:spTree>
    <p:extLst>
      <p:ext uri="{BB962C8B-B14F-4D97-AF65-F5344CB8AC3E}">
        <p14:creationId xmlns:p14="http://schemas.microsoft.com/office/powerpoint/2010/main" val="3026872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b="1" dirty="0">
                <a:solidFill>
                  <a:srgbClr val="FFFF00"/>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ejecutar el cliente de escritorio, dar clic derecho sobre el proyecto &gt; Run. Al iniciar el sistema, se muestra el inicio de sesión, en donde el usuario es MONSTER y la contraseña es MONSTER9.</a:t>
            </a:r>
          </a:p>
        </p:txBody>
      </p:sp>
      <p:pic>
        <p:nvPicPr>
          <p:cNvPr id="3" name="Picture 2" descr="A screenshot of a cartoon character&#10;&#10;Description automatically generated">
            <a:extLst>
              <a:ext uri="{FF2B5EF4-FFF2-40B4-BE49-F238E27FC236}">
                <a16:creationId xmlns:a16="http://schemas.microsoft.com/office/drawing/2014/main" id="{1F85036B-83BA-B569-4D25-833B51560F3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22713" y="2180895"/>
            <a:ext cx="3332999" cy="1792589"/>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pic>
        <p:nvPicPr>
          <p:cNvPr id="6" name="Picture 5" descr="A screenshot of a computer&#10;&#10;Description automatically generated">
            <a:extLst>
              <a:ext uri="{FF2B5EF4-FFF2-40B4-BE49-F238E27FC236}">
                <a16:creationId xmlns:a16="http://schemas.microsoft.com/office/drawing/2014/main" id="{CE81A4EC-E5EA-2731-ED05-7E4E7E99FD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19867" y="2180895"/>
            <a:ext cx="3151481" cy="1792589"/>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pic>
        <p:nvPicPr>
          <p:cNvPr id="7" name="Picture 6" descr="A screenshot of a computer&#10;&#10;Description automatically generated">
            <a:extLst>
              <a:ext uri="{FF2B5EF4-FFF2-40B4-BE49-F238E27FC236}">
                <a16:creationId xmlns:a16="http://schemas.microsoft.com/office/drawing/2014/main" id="{4A763FE7-9B1D-1ED1-DA1D-C761623E003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01299" y="4438423"/>
            <a:ext cx="3394335" cy="193422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9" name="CuadroTexto 7">
            <a:extLst>
              <a:ext uri="{FF2B5EF4-FFF2-40B4-BE49-F238E27FC236}">
                <a16:creationId xmlns:a16="http://schemas.microsoft.com/office/drawing/2014/main" id="{29D38A39-E75D-BE9E-E908-D1747FED70C0}"/>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30</a:t>
            </a:r>
          </a:p>
        </p:txBody>
      </p:sp>
    </p:spTree>
    <p:extLst>
      <p:ext uri="{BB962C8B-B14F-4D97-AF65-F5344CB8AC3E}">
        <p14:creationId xmlns:p14="http://schemas.microsoft.com/office/powerpoint/2010/main" val="1613343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566B89-C470-4C69-8689-38673C7B7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0708B1-1822-4D0E-B3F8-BF6E36438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90" y="457201"/>
            <a:ext cx="7363959"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1EAB69CE-6296-4D71-8DB3-BF71FD518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39774" y="453643"/>
            <a:ext cx="329184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3">
            <a:extLst>
              <a:ext uri="{FF2B5EF4-FFF2-40B4-BE49-F238E27FC236}">
                <a16:creationId xmlns:a16="http://schemas.microsoft.com/office/drawing/2014/main" id="{45B34FBD-A817-4E6B-8CD9-1BCA9CB67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89" y="681070"/>
            <a:ext cx="7363960" cy="56933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996381" y="1152939"/>
            <a:ext cx="6583680" cy="4539113"/>
          </a:xfrm>
        </p:spPr>
        <p:txBody>
          <a:bodyPr anchor="ctr">
            <a:normAutofit/>
          </a:bodyPr>
          <a:lstStyle/>
          <a:p>
            <a:r>
              <a:rPr lang="es-ES" sz="5400" dirty="0">
                <a:solidFill>
                  <a:srgbClr val="FFFFFF"/>
                </a:solidFill>
              </a:rPr>
              <a:t>APLICACIÓN CLIENTE Móvil</a:t>
            </a:r>
          </a:p>
        </p:txBody>
      </p:sp>
      <p:sp>
        <p:nvSpPr>
          <p:cNvPr id="20" name="CuadroTexto 19">
            <a:extLst>
              <a:ext uri="{FF2B5EF4-FFF2-40B4-BE49-F238E27FC236}">
                <a16:creationId xmlns:a16="http://schemas.microsoft.com/office/drawing/2014/main" id="{63D2310E-26B1-4889-8EDE-811C71ECE2B7}"/>
              </a:ext>
            </a:extLst>
          </p:cNvPr>
          <p:cNvSpPr txBox="1"/>
          <p:nvPr/>
        </p:nvSpPr>
        <p:spPr>
          <a:xfrm>
            <a:off x="11696701" y="6457890"/>
            <a:ext cx="495300" cy="400110"/>
          </a:xfrm>
          <a:prstGeom prst="rect">
            <a:avLst/>
          </a:prstGeom>
          <a:noFill/>
        </p:spPr>
        <p:txBody>
          <a:bodyPr wrap="square" rtlCol="0">
            <a:spAutoFit/>
          </a:bodyPr>
          <a:lstStyle/>
          <a:p>
            <a:r>
              <a:rPr lang="es-EC" sz="2000" dirty="0"/>
              <a:t>31</a:t>
            </a:r>
          </a:p>
        </p:txBody>
      </p:sp>
    </p:spTree>
    <p:extLst>
      <p:ext uri="{BB962C8B-B14F-4D97-AF65-F5344CB8AC3E}">
        <p14:creationId xmlns:p14="http://schemas.microsoft.com/office/powerpoint/2010/main" val="3528494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el cliente móvil, se usará Kotlin como lenguaje de programación y JAVA para el consumo de los Web Services. Para crear el proyecto abrir Android Studio &gt; New Project &gt; </a:t>
            </a:r>
            <a:r>
              <a:rPr lang="es-ES" sz="1600" cap="none" dirty="0" err="1"/>
              <a:t>Empty</a:t>
            </a:r>
            <a:r>
              <a:rPr lang="es-ES" sz="1600" cap="none" dirty="0"/>
              <a:t> </a:t>
            </a:r>
            <a:r>
              <a:rPr lang="es-ES" sz="1600" cap="none" dirty="0" err="1"/>
              <a:t>Activity</a:t>
            </a:r>
            <a:r>
              <a:rPr lang="es-ES" sz="1600" cap="none" dirty="0"/>
              <a:t> &gt; Next.</a:t>
            </a:r>
          </a:p>
        </p:txBody>
      </p:sp>
      <p:pic>
        <p:nvPicPr>
          <p:cNvPr id="4" name="Picture 3" descr="A screenshot of a computer&#10;&#10;Description automatically generated">
            <a:extLst>
              <a:ext uri="{FF2B5EF4-FFF2-40B4-BE49-F238E27FC236}">
                <a16:creationId xmlns:a16="http://schemas.microsoft.com/office/drawing/2014/main" id="{6873F354-15AC-641A-CA42-6E89817AEF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6239" y="2123266"/>
            <a:ext cx="5867256" cy="4235493"/>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9" name="CuadroTexto 7">
            <a:extLst>
              <a:ext uri="{FF2B5EF4-FFF2-40B4-BE49-F238E27FC236}">
                <a16:creationId xmlns:a16="http://schemas.microsoft.com/office/drawing/2014/main" id="{C7F42B49-6294-D0D4-81FE-1EE373CC22D7}"/>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32</a:t>
            </a:r>
          </a:p>
        </p:txBody>
      </p:sp>
    </p:spTree>
    <p:extLst>
      <p:ext uri="{BB962C8B-B14F-4D97-AF65-F5344CB8AC3E}">
        <p14:creationId xmlns:p14="http://schemas.microsoft.com/office/powerpoint/2010/main" val="1471632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Luego, seleccionar en donde se guardará el proyecto, es ente caso será en 02. CLIENTE_MOVIL.</a:t>
            </a:r>
          </a:p>
        </p:txBody>
      </p:sp>
      <p:pic>
        <p:nvPicPr>
          <p:cNvPr id="3" name="Picture 2" descr="A screenshot of a computer&#10;&#10;Description automatically generated">
            <a:extLst>
              <a:ext uri="{FF2B5EF4-FFF2-40B4-BE49-F238E27FC236}">
                <a16:creationId xmlns:a16="http://schemas.microsoft.com/office/drawing/2014/main" id="{361F3039-41A2-2DC1-F773-07D8261DB2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9950" y="2145491"/>
            <a:ext cx="5819833" cy="4201279"/>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83A0BBD6-C45B-1E64-B419-B9B4897ECB44}"/>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33</a:t>
            </a:r>
          </a:p>
        </p:txBody>
      </p:sp>
    </p:spTree>
    <p:extLst>
      <p:ext uri="{BB962C8B-B14F-4D97-AF65-F5344CB8AC3E}">
        <p14:creationId xmlns:p14="http://schemas.microsoft.com/office/powerpoint/2010/main" val="27198041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Una vez que se creado el proyecto, se debe dar el permiso para acceder a internet y el permiso para consumir servicios con http.</a:t>
            </a:r>
          </a:p>
        </p:txBody>
      </p:sp>
      <p:pic>
        <p:nvPicPr>
          <p:cNvPr id="4" name="Picture 3" descr="A screen shot of a computer screen&#10;&#10;Description automatically generated">
            <a:extLst>
              <a:ext uri="{FF2B5EF4-FFF2-40B4-BE49-F238E27FC236}">
                <a16:creationId xmlns:a16="http://schemas.microsoft.com/office/drawing/2014/main" id="{3D92886B-44E4-50A4-513F-8DB8B959BA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6679" y="2520697"/>
            <a:ext cx="7481828" cy="2370369"/>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24B4E7F7-8BFE-7CB8-A0B9-4EC2DAD3BB5D}"/>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34</a:t>
            </a:r>
          </a:p>
        </p:txBody>
      </p:sp>
    </p:spTree>
    <p:extLst>
      <p:ext uri="{BB962C8B-B14F-4D97-AF65-F5344CB8AC3E}">
        <p14:creationId xmlns:p14="http://schemas.microsoft.com/office/powerpoint/2010/main" val="2620064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Para implementar el patrón de arquitectura MVC, se crearán los paquetes modelo, controlador y vista tal y como se muestra en la siguiente figura.</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6" name="Picture 5" descr="A screenshot of a computer&#10;&#10;Description automatically generated">
            <a:extLst>
              <a:ext uri="{FF2B5EF4-FFF2-40B4-BE49-F238E27FC236}">
                <a16:creationId xmlns:a16="http://schemas.microsoft.com/office/drawing/2014/main" id="{66FC54CF-ED5E-3D10-ECB4-63D67259B4C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83220" y="2052002"/>
            <a:ext cx="3700780" cy="2753995"/>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29374CA3-553E-F13A-EF70-EEA5F4889C89}"/>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35</a:t>
            </a:r>
          </a:p>
        </p:txBody>
      </p:sp>
    </p:spTree>
    <p:extLst>
      <p:ext uri="{BB962C8B-B14F-4D97-AF65-F5344CB8AC3E}">
        <p14:creationId xmlns:p14="http://schemas.microsoft.com/office/powerpoint/2010/main" val="911377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el consumo de los Web Services, se hará uso de la extensión </a:t>
            </a:r>
            <a:r>
              <a:rPr lang="es-ES" sz="1600" cap="none" dirty="0" err="1"/>
              <a:t>easyWSDL</a:t>
            </a:r>
            <a:r>
              <a:rPr lang="es-ES" sz="1600" cap="none" dirty="0"/>
              <a:t> </a:t>
            </a:r>
            <a:r>
              <a:rPr lang="es-ES" sz="1600" cap="none" dirty="0" err="1"/>
              <a:t>Generator</a:t>
            </a:r>
            <a:r>
              <a:rPr lang="es-ES" sz="1600" cap="none" dirty="0"/>
              <a:t>, para instalarla dar clic en </a:t>
            </a:r>
            <a:r>
              <a:rPr lang="es-ES" sz="1600" cap="none" dirty="0" err="1"/>
              <a:t>Settings</a:t>
            </a:r>
            <a:r>
              <a:rPr lang="es-ES" sz="1600" cap="none" dirty="0"/>
              <a:t> &gt; </a:t>
            </a:r>
            <a:r>
              <a:rPr lang="es-ES" sz="1600" cap="none" dirty="0" err="1"/>
              <a:t>Plugins</a:t>
            </a:r>
            <a:r>
              <a:rPr lang="es-ES" sz="1600" cap="none" dirty="0"/>
              <a:t> &gt; buscar la extensión &gt; Install &gt; OK.</a:t>
            </a:r>
          </a:p>
        </p:txBody>
      </p:sp>
      <p:pic>
        <p:nvPicPr>
          <p:cNvPr id="6" name="Picture 5" descr="A screenshot of a computer&#10;&#10;Description automatically generated">
            <a:extLst>
              <a:ext uri="{FF2B5EF4-FFF2-40B4-BE49-F238E27FC236}">
                <a16:creationId xmlns:a16="http://schemas.microsoft.com/office/drawing/2014/main" id="{FF231D5D-C9E4-850B-EB28-9399D3F6E1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4961" y="2090419"/>
            <a:ext cx="6015751" cy="4496317"/>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01E64916-EFE8-C903-FEC2-1C67ECE9E23B}"/>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36</a:t>
            </a:r>
          </a:p>
        </p:txBody>
      </p:sp>
    </p:spTree>
    <p:extLst>
      <p:ext uri="{BB962C8B-B14F-4D97-AF65-F5344CB8AC3E}">
        <p14:creationId xmlns:p14="http://schemas.microsoft.com/office/powerpoint/2010/main" val="3071544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Una vez creada la cuenta, se puede crear el cliente para el Web Service dando clic derecho sobre el paquete </a:t>
            </a:r>
            <a:r>
              <a:rPr lang="es-ES" dirty="0" err="1">
                <a:solidFill>
                  <a:schemeClr val="bg1"/>
                </a:solidFill>
              </a:rPr>
              <a:t>model</a:t>
            </a:r>
            <a:r>
              <a:rPr lang="es-ES" dirty="0">
                <a:solidFill>
                  <a:schemeClr val="bg1"/>
                </a:solidFill>
              </a:rPr>
              <a:t> &gt; esasyWSDL – </a:t>
            </a:r>
            <a:r>
              <a:rPr lang="es-ES" dirty="0" err="1">
                <a:solidFill>
                  <a:schemeClr val="bg1"/>
                </a:solidFill>
              </a:rPr>
              <a:t>Add</a:t>
            </a:r>
            <a:r>
              <a:rPr lang="es-ES" dirty="0">
                <a:solidFill>
                  <a:schemeClr val="bg1"/>
                </a:solidFill>
              </a:rPr>
              <a:t> web </a:t>
            </a:r>
            <a:r>
              <a:rPr lang="es-ES" dirty="0" err="1">
                <a:solidFill>
                  <a:schemeClr val="bg1"/>
                </a:solidFill>
              </a:rPr>
              <a:t>service</a:t>
            </a:r>
            <a:r>
              <a:rPr lang="es-ES" dirty="0">
                <a:solidFill>
                  <a:schemeClr val="bg1"/>
                </a:solidFill>
              </a:rPr>
              <a:t>.</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5" name="Picture 4" descr="A screenshot of a computer&#10;&#10;Description automatically generated">
            <a:extLst>
              <a:ext uri="{FF2B5EF4-FFF2-40B4-BE49-F238E27FC236}">
                <a16:creationId xmlns:a16="http://schemas.microsoft.com/office/drawing/2014/main" id="{09A8D0A3-9DAD-E5B9-95BF-C74237E58E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59818" y="873593"/>
            <a:ext cx="3626081" cy="5046044"/>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5978D085-FEA3-2F87-799A-B900E778895B}"/>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37</a:t>
            </a:r>
          </a:p>
        </p:txBody>
      </p:sp>
    </p:spTree>
    <p:extLst>
      <p:ext uri="{BB962C8B-B14F-4D97-AF65-F5344CB8AC3E}">
        <p14:creationId xmlns:p14="http://schemas.microsoft.com/office/powerpoint/2010/main" val="2539012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que la extensión genere el código necesario para consumir el Web Service de inicio de sesión, se debe de ingresar la URL de WSDL tal y como se muestra a continuación, por último, dar clic en OK.</a:t>
            </a:r>
          </a:p>
        </p:txBody>
      </p:sp>
      <p:pic>
        <p:nvPicPr>
          <p:cNvPr id="3" name="Picture 2" descr="A screenshot of a computer&#10;&#10;Description automatically generated">
            <a:extLst>
              <a:ext uri="{FF2B5EF4-FFF2-40B4-BE49-F238E27FC236}">
                <a16:creationId xmlns:a16="http://schemas.microsoft.com/office/drawing/2014/main" id="{30121BA1-F715-B791-4FC9-9AC738C0810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513" y="2263023"/>
            <a:ext cx="7919016" cy="3564197"/>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4" name="CuadroTexto 7">
            <a:extLst>
              <a:ext uri="{FF2B5EF4-FFF2-40B4-BE49-F238E27FC236}">
                <a16:creationId xmlns:a16="http://schemas.microsoft.com/office/drawing/2014/main" id="{3AC0CCED-9EAB-5095-D7DB-F9D43564376D}"/>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38</a:t>
            </a:r>
          </a:p>
        </p:txBody>
      </p:sp>
    </p:spTree>
    <p:extLst>
      <p:ext uri="{BB962C8B-B14F-4D97-AF65-F5344CB8AC3E}">
        <p14:creationId xmlns:p14="http://schemas.microsoft.com/office/powerpoint/2010/main" val="3012230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Una vez que se referenciaron los Web Services de inicio de sesión y conversión de unidades, se debe presentar la siguiente estructura de paquetes y clases que permitirán el consumo de los Web Services en el cliente móvil.</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6" name="Picture 5" descr="A screenshot of a computer&#10;&#10;Description automatically generated">
            <a:extLst>
              <a:ext uri="{FF2B5EF4-FFF2-40B4-BE49-F238E27FC236}">
                <a16:creationId xmlns:a16="http://schemas.microsoft.com/office/drawing/2014/main" id="{E59CD0EB-A2ED-18F3-8CC9-F95D8896905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84183" y="803322"/>
            <a:ext cx="3212166" cy="5251355"/>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36680303-F944-8BA6-56EE-4AA303BF0D9C}"/>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39</a:t>
            </a:r>
          </a:p>
        </p:txBody>
      </p:sp>
    </p:spTree>
    <p:extLst>
      <p:ext uri="{BB962C8B-B14F-4D97-AF65-F5344CB8AC3E}">
        <p14:creationId xmlns:p14="http://schemas.microsoft.com/office/powerpoint/2010/main" val="32104398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la conversión de unidades, se deben implementar los métodos para la conversión de pulgadas a centímetros y viceversa.</a:t>
            </a:r>
          </a:p>
        </p:txBody>
      </p:sp>
      <p:pic>
        <p:nvPicPr>
          <p:cNvPr id="4" name="Picture 3" descr="A computer screen shot of a program&#10;&#10;Description automatically generated">
            <a:extLst>
              <a:ext uri="{FF2B5EF4-FFF2-40B4-BE49-F238E27FC236}">
                <a16:creationId xmlns:a16="http://schemas.microsoft.com/office/drawing/2014/main" id="{BE333DFF-23BF-9EE0-0C1B-27EB77153F3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5704" y="2027378"/>
            <a:ext cx="6108325" cy="4430512"/>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D230ACD4-ED1C-ACDB-DC24-95CF01196328}"/>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40</a:t>
            </a:r>
          </a:p>
        </p:txBody>
      </p:sp>
    </p:spTree>
    <p:extLst>
      <p:ext uri="{BB962C8B-B14F-4D97-AF65-F5344CB8AC3E}">
        <p14:creationId xmlns:p14="http://schemas.microsoft.com/office/powerpoint/2010/main" val="15237364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A continuación, se deben de definir los casos de prueba para probar el consumo de los servicios de inicio de sesión y conversión de unidades.</a:t>
            </a:r>
          </a:p>
        </p:txBody>
      </p:sp>
      <p:pic>
        <p:nvPicPr>
          <p:cNvPr id="3" name="Picture 2" descr="A computer screen shot of a program code&#10;&#10;Description automatically generated">
            <a:extLst>
              <a:ext uri="{FF2B5EF4-FFF2-40B4-BE49-F238E27FC236}">
                <a16:creationId xmlns:a16="http://schemas.microsoft.com/office/drawing/2014/main" id="{C2660F9E-5578-321D-10AD-CCB8B6681865}"/>
              </a:ext>
            </a:extLst>
          </p:cNvPr>
          <p:cNvPicPr>
            <a:picLocks noChangeAspect="1"/>
          </p:cNvPicPr>
          <p:nvPr/>
        </p:nvPicPr>
        <p:blipFill>
          <a:blip r:embed="rId2"/>
          <a:stretch>
            <a:fillRect/>
          </a:stretch>
        </p:blipFill>
        <p:spPr>
          <a:xfrm>
            <a:off x="1042975" y="2437447"/>
            <a:ext cx="7412050" cy="3115455"/>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2724BE1A-E83C-04B5-44FE-64816FA45EC3}"/>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41</a:t>
            </a:r>
          </a:p>
        </p:txBody>
      </p:sp>
    </p:spTree>
    <p:extLst>
      <p:ext uri="{BB962C8B-B14F-4D97-AF65-F5344CB8AC3E}">
        <p14:creationId xmlns:p14="http://schemas.microsoft.com/office/powerpoint/2010/main" val="15593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ejecutar las pruebas unitarias, dar clic sobre el botón ejecutar, y a continuación se mostrará una ventana con los resultados de la ejecución.</a:t>
            </a:r>
          </a:p>
        </p:txBody>
      </p:sp>
      <p:pic>
        <p:nvPicPr>
          <p:cNvPr id="4" name="Picture 3" descr="A screenshot of a computer program&#10;&#10;Description automatically generated">
            <a:extLst>
              <a:ext uri="{FF2B5EF4-FFF2-40B4-BE49-F238E27FC236}">
                <a16:creationId xmlns:a16="http://schemas.microsoft.com/office/drawing/2014/main" id="{3897F634-5972-39E8-124C-6363AF0CAAA0}"/>
              </a:ext>
            </a:extLst>
          </p:cNvPr>
          <p:cNvPicPr>
            <a:picLocks noChangeAspect="1"/>
          </p:cNvPicPr>
          <p:nvPr/>
        </p:nvPicPr>
        <p:blipFill>
          <a:blip r:embed="rId2"/>
          <a:stretch>
            <a:fillRect/>
          </a:stretch>
        </p:blipFill>
        <p:spPr>
          <a:xfrm>
            <a:off x="1338349" y="2155582"/>
            <a:ext cx="6775623" cy="4000262"/>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93037919-B091-06E6-2B4F-CA43B9C04DAA}"/>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42</a:t>
            </a:r>
          </a:p>
        </p:txBody>
      </p:sp>
    </p:spTree>
    <p:extLst>
      <p:ext uri="{BB962C8B-B14F-4D97-AF65-F5344CB8AC3E}">
        <p14:creationId xmlns:p14="http://schemas.microsoft.com/office/powerpoint/2010/main" val="16644616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b="1" dirty="0">
                <a:solidFill>
                  <a:srgbClr val="FFFF00"/>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ejecutar la aplicación ser hará uso de un dispositivo Android con la version 11 o superior. Conectar un cable USB al computador y seleccionar el dispositivo en Android Studio una vez que lo reconozca, por último, se debe de esperar hasta que la aplicación se compile y se muestre en el dispositivo móvil.</a:t>
            </a:r>
          </a:p>
        </p:txBody>
      </p:sp>
      <p:pic>
        <p:nvPicPr>
          <p:cNvPr id="3" name="Picture 2" descr="A screenshot of a cartoon character&#10;&#10;Description automatically generated">
            <a:extLst>
              <a:ext uri="{FF2B5EF4-FFF2-40B4-BE49-F238E27FC236}">
                <a16:creationId xmlns:a16="http://schemas.microsoft.com/office/drawing/2014/main" id="{B15C0DC9-5760-A20C-97FB-00DF14DFC9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38166" y="2119745"/>
            <a:ext cx="2036468" cy="4412182"/>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pic>
        <p:nvPicPr>
          <p:cNvPr id="6" name="Picture 5" descr="A screenshot of a phone&#10;&#10;Description automatically generated">
            <a:extLst>
              <a:ext uri="{FF2B5EF4-FFF2-40B4-BE49-F238E27FC236}">
                <a16:creationId xmlns:a16="http://schemas.microsoft.com/office/drawing/2014/main" id="{6EE89D35-BA69-DC1C-6FB2-B77A4E1561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97200" y="2119745"/>
            <a:ext cx="2036540" cy="4412182"/>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pic>
        <p:nvPicPr>
          <p:cNvPr id="7" name="Picture 6" descr="A screenshot of a phone&#10;&#10;Description automatically generated">
            <a:extLst>
              <a:ext uri="{FF2B5EF4-FFF2-40B4-BE49-F238E27FC236}">
                <a16:creationId xmlns:a16="http://schemas.microsoft.com/office/drawing/2014/main" id="{DB6E78C5-922C-D421-E9DE-F4560773C2C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56506" y="2120016"/>
            <a:ext cx="2036541" cy="4411911"/>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9" name="CuadroTexto 7">
            <a:extLst>
              <a:ext uri="{FF2B5EF4-FFF2-40B4-BE49-F238E27FC236}">
                <a16:creationId xmlns:a16="http://schemas.microsoft.com/office/drawing/2014/main" id="{BE8AD02A-B9B5-FC8E-D299-C08AF90DA341}"/>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43</a:t>
            </a:r>
          </a:p>
        </p:txBody>
      </p:sp>
    </p:spTree>
    <p:extLst>
      <p:ext uri="{BB962C8B-B14F-4D97-AF65-F5344CB8AC3E}">
        <p14:creationId xmlns:p14="http://schemas.microsoft.com/office/powerpoint/2010/main" val="1034763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566B89-C470-4C69-8689-38673C7B7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0708B1-1822-4D0E-B3F8-BF6E36438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90" y="457201"/>
            <a:ext cx="7363959"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1EAB69CE-6296-4D71-8DB3-BF71FD518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39774" y="453643"/>
            <a:ext cx="329184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3">
            <a:extLst>
              <a:ext uri="{FF2B5EF4-FFF2-40B4-BE49-F238E27FC236}">
                <a16:creationId xmlns:a16="http://schemas.microsoft.com/office/drawing/2014/main" id="{45B34FBD-A817-4E6B-8CD9-1BCA9CB67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89" y="681070"/>
            <a:ext cx="7363960" cy="56933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996381" y="1152939"/>
            <a:ext cx="6583680" cy="4539113"/>
          </a:xfrm>
        </p:spPr>
        <p:txBody>
          <a:bodyPr anchor="ctr">
            <a:normAutofit/>
          </a:bodyPr>
          <a:lstStyle/>
          <a:p>
            <a:r>
              <a:rPr lang="es-ES" sz="5400" dirty="0">
                <a:solidFill>
                  <a:srgbClr val="FFFFFF"/>
                </a:solidFill>
              </a:rPr>
              <a:t>APLICACIÓN CLIENTE WEB</a:t>
            </a:r>
          </a:p>
        </p:txBody>
      </p:sp>
      <p:sp>
        <p:nvSpPr>
          <p:cNvPr id="20" name="CuadroTexto 19">
            <a:extLst>
              <a:ext uri="{FF2B5EF4-FFF2-40B4-BE49-F238E27FC236}">
                <a16:creationId xmlns:a16="http://schemas.microsoft.com/office/drawing/2014/main" id="{63D2310E-26B1-4889-8EDE-811C71ECE2B7}"/>
              </a:ext>
            </a:extLst>
          </p:cNvPr>
          <p:cNvSpPr txBox="1"/>
          <p:nvPr/>
        </p:nvSpPr>
        <p:spPr>
          <a:xfrm>
            <a:off x="11706225" y="6457890"/>
            <a:ext cx="485775" cy="400110"/>
          </a:xfrm>
          <a:prstGeom prst="rect">
            <a:avLst/>
          </a:prstGeom>
          <a:noFill/>
        </p:spPr>
        <p:txBody>
          <a:bodyPr wrap="square" rtlCol="0">
            <a:spAutoFit/>
          </a:bodyPr>
          <a:lstStyle/>
          <a:p>
            <a:r>
              <a:rPr lang="es-EC" sz="2000" dirty="0"/>
              <a:t>44</a:t>
            </a:r>
          </a:p>
        </p:txBody>
      </p:sp>
    </p:spTree>
    <p:extLst>
      <p:ext uri="{BB962C8B-B14F-4D97-AF65-F5344CB8AC3E}">
        <p14:creationId xmlns:p14="http://schemas.microsoft.com/office/powerpoint/2010/main" val="31648691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la creación del cliente web, en Apache NetBeans dar clic en New Project &gt; Java Web &gt; Web Application &gt; Next.</a:t>
            </a:r>
          </a:p>
        </p:txBody>
      </p:sp>
      <p:pic>
        <p:nvPicPr>
          <p:cNvPr id="4" name="Picture 3" descr="A screenshot of a computer program&#10;&#10;Description automatically generated">
            <a:extLst>
              <a:ext uri="{FF2B5EF4-FFF2-40B4-BE49-F238E27FC236}">
                <a16:creationId xmlns:a16="http://schemas.microsoft.com/office/drawing/2014/main" id="{0E8E46CF-DF34-1154-ABBA-C32ED983AA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8644" y="2172075"/>
            <a:ext cx="5942445" cy="4088382"/>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9" name="CuadroTexto 7">
            <a:extLst>
              <a:ext uri="{FF2B5EF4-FFF2-40B4-BE49-F238E27FC236}">
                <a16:creationId xmlns:a16="http://schemas.microsoft.com/office/drawing/2014/main" id="{A43F05D9-A771-F139-CE36-92608F194455}"/>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45</a:t>
            </a:r>
          </a:p>
        </p:txBody>
      </p:sp>
    </p:spTree>
    <p:extLst>
      <p:ext uri="{BB962C8B-B14F-4D97-AF65-F5344CB8AC3E}">
        <p14:creationId xmlns:p14="http://schemas.microsoft.com/office/powerpoint/2010/main" val="3612045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Luego se debe seleccionar el servidor de Payara v5 y Jakarta EE 8 Web.</a:t>
            </a:r>
          </a:p>
        </p:txBody>
      </p:sp>
      <p:pic>
        <p:nvPicPr>
          <p:cNvPr id="3" name="Picture 2" descr="A screenshot of a computer&#10;&#10;Description automatically generated">
            <a:extLst>
              <a:ext uri="{FF2B5EF4-FFF2-40B4-BE49-F238E27FC236}">
                <a16:creationId xmlns:a16="http://schemas.microsoft.com/office/drawing/2014/main" id="{AE925512-D940-34E3-28EF-18A5D7B06E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73608" y="2215339"/>
            <a:ext cx="6350522" cy="4242551"/>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7F47014F-E6DA-51B6-656C-3E8F34A5FEDE}"/>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46</a:t>
            </a:r>
          </a:p>
        </p:txBody>
      </p:sp>
    </p:spTree>
    <p:extLst>
      <p:ext uri="{BB962C8B-B14F-4D97-AF65-F5344CB8AC3E}">
        <p14:creationId xmlns:p14="http://schemas.microsoft.com/office/powerpoint/2010/main" val="26034278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El Framework que se utilizará en este caso será JavaServer Faces con la librería de PrimeFaces, para esto se deberá de descargar el </a:t>
            </a:r>
            <a:r>
              <a:rPr lang="es-ES" sz="1600" cap="none" dirty="0" err="1"/>
              <a:t>jar</a:t>
            </a:r>
            <a:r>
              <a:rPr lang="es-ES" sz="1600" cap="none" dirty="0"/>
              <a:t> de PrimeFaces en la version 11 o superior.</a:t>
            </a:r>
          </a:p>
        </p:txBody>
      </p:sp>
      <p:pic>
        <p:nvPicPr>
          <p:cNvPr id="4" name="Picture 3" descr="A screenshot of a computer&#10;&#10;Description automatically generated">
            <a:extLst>
              <a:ext uri="{FF2B5EF4-FFF2-40B4-BE49-F238E27FC236}">
                <a16:creationId xmlns:a16="http://schemas.microsoft.com/office/drawing/2014/main" id="{A118164D-B5FA-4FC2-6443-DC4755E37E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92265" y="2094287"/>
            <a:ext cx="6655204" cy="444553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3E66F092-FCE7-5C11-E565-6757B1BAF888}"/>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47</a:t>
            </a:r>
          </a:p>
        </p:txBody>
      </p:sp>
    </p:spTree>
    <p:extLst>
      <p:ext uri="{BB962C8B-B14F-4D97-AF65-F5344CB8AC3E}">
        <p14:creationId xmlns:p14="http://schemas.microsoft.com/office/powerpoint/2010/main" val="42102013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b="1" dirty="0">
                <a:solidFill>
                  <a:srgbClr val="FFFF00"/>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Antes de crear la estructura del proyecto, se crearán las referencias a los Web Services, tal y como se hicieron con los proyectos de consola y escritorio.</a:t>
            </a:r>
          </a:p>
        </p:txBody>
      </p:sp>
      <p:pic>
        <p:nvPicPr>
          <p:cNvPr id="3" name="Picture 2" descr="A screenshot of a computer&#10;&#10;Description automatically generated">
            <a:extLst>
              <a:ext uri="{FF2B5EF4-FFF2-40B4-BE49-F238E27FC236}">
                <a16:creationId xmlns:a16="http://schemas.microsoft.com/office/drawing/2014/main" id="{390E1652-8EB5-1858-0E43-BC6DBFC98B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2174" y="2499013"/>
            <a:ext cx="7216898" cy="3112078"/>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E24E5B04-C984-A826-698B-A858FD8F0951}"/>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48</a:t>
            </a:r>
          </a:p>
        </p:txBody>
      </p:sp>
    </p:spTree>
    <p:extLst>
      <p:ext uri="{BB962C8B-B14F-4D97-AF65-F5344CB8AC3E}">
        <p14:creationId xmlns:p14="http://schemas.microsoft.com/office/powerpoint/2010/main" val="31959083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A continuación, se crearán los paquetes necesarios para el patrón de arquitectura MVC, además de crear las clases necesarias. Al final se debe presentar una estructura como se muestra en la siguiente figura.</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5" name="Picture 4" descr="A screenshot of a computer&#10;&#10;Description automatically generated">
            <a:extLst>
              <a:ext uri="{FF2B5EF4-FFF2-40B4-BE49-F238E27FC236}">
                <a16:creationId xmlns:a16="http://schemas.microsoft.com/office/drawing/2014/main" id="{4497FD6A-6E83-3160-2384-B99FD4CE66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79872" y="979213"/>
            <a:ext cx="3707477" cy="4899573"/>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8" name="CuadroTexto 7">
            <a:extLst>
              <a:ext uri="{FF2B5EF4-FFF2-40B4-BE49-F238E27FC236}">
                <a16:creationId xmlns:a16="http://schemas.microsoft.com/office/drawing/2014/main" id="{843158BB-D94B-AF18-0F63-98309AB48E98}"/>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49</a:t>
            </a:r>
          </a:p>
        </p:txBody>
      </p:sp>
    </p:spTree>
    <p:extLst>
      <p:ext uri="{BB962C8B-B14F-4D97-AF65-F5344CB8AC3E}">
        <p14:creationId xmlns:p14="http://schemas.microsoft.com/office/powerpoint/2010/main" val="42888907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Una vez implementado el servicio y el controlador, se realiza la implementación de la vista en JSF como se muestra a continuación.</a:t>
            </a:r>
          </a:p>
        </p:txBody>
      </p:sp>
      <p:pic>
        <p:nvPicPr>
          <p:cNvPr id="6" name="Picture 5" descr="A screenshot of a computer program&#10;&#10;Description automatically generated">
            <a:extLst>
              <a:ext uri="{FF2B5EF4-FFF2-40B4-BE49-F238E27FC236}">
                <a16:creationId xmlns:a16="http://schemas.microsoft.com/office/drawing/2014/main" id="{6B5E863D-35CD-FAB7-A096-6EF559A5B3B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5266" y="2144134"/>
            <a:ext cx="7349201" cy="425403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0EA66FB6-56C6-3896-D4DE-AB4AD517A1FC}"/>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50</a:t>
            </a:r>
          </a:p>
        </p:txBody>
      </p:sp>
    </p:spTree>
    <p:extLst>
      <p:ext uri="{BB962C8B-B14F-4D97-AF65-F5344CB8AC3E}">
        <p14:creationId xmlns:p14="http://schemas.microsoft.com/office/powerpoint/2010/main" val="41928410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A continuación, se implementa la clase </a:t>
            </a:r>
            <a:r>
              <a:rPr lang="es-ES" sz="1600" cap="none" dirty="0" err="1"/>
              <a:t>ConversionController</a:t>
            </a:r>
            <a:r>
              <a:rPr lang="es-ES" sz="1600" cap="none" dirty="0"/>
              <a:t>, la cual será la encargada de gestionar la vista para la conversión de unidades y llamar a los Web Services correspondientes.</a:t>
            </a:r>
          </a:p>
        </p:txBody>
      </p:sp>
      <p:pic>
        <p:nvPicPr>
          <p:cNvPr id="3" name="Picture 2" descr="A computer screen shot of text&#10;&#10;Description automatically generated">
            <a:extLst>
              <a:ext uri="{FF2B5EF4-FFF2-40B4-BE49-F238E27FC236}">
                <a16:creationId xmlns:a16="http://schemas.microsoft.com/office/drawing/2014/main" id="{D49868F3-8057-AFFE-CA12-FC716CAE0C0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7982" y="2062376"/>
            <a:ext cx="7523769" cy="4395514"/>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4" name="CuadroTexto 7">
            <a:extLst>
              <a:ext uri="{FF2B5EF4-FFF2-40B4-BE49-F238E27FC236}">
                <a16:creationId xmlns:a16="http://schemas.microsoft.com/office/drawing/2014/main" id="{09A85BC7-3DF3-776B-75F0-CD0649826C1C}"/>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51</a:t>
            </a:r>
          </a:p>
        </p:txBody>
      </p:sp>
    </p:spTree>
    <p:extLst>
      <p:ext uri="{BB962C8B-B14F-4D97-AF65-F5344CB8AC3E}">
        <p14:creationId xmlns:p14="http://schemas.microsoft.com/office/powerpoint/2010/main" val="11898619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dirty="0">
                <a:solidFill>
                  <a:schemeClr val="bg1"/>
                </a:solidFill>
              </a:rPr>
              <a:t>CREACIÓN DEL CLIENTE</a:t>
            </a:r>
          </a:p>
          <a:p>
            <a:pPr lvl="1">
              <a:lnSpc>
                <a:spcPct val="90000"/>
              </a:lnSpc>
            </a:pPr>
            <a:r>
              <a:rPr lang="es-ES" sz="900" b="1" dirty="0">
                <a:solidFill>
                  <a:srgbClr val="FFFF00"/>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A continuación, se implementa la clase </a:t>
            </a:r>
            <a:r>
              <a:rPr lang="es-ES" sz="1600" cap="none" dirty="0" err="1"/>
              <a:t>ConversionController</a:t>
            </a:r>
            <a:r>
              <a:rPr lang="es-ES" sz="1600" cap="none" dirty="0"/>
              <a:t>, la cual será la encargada de gestionar la vista para la conversión de unidades y llamar a los Web Services correspondientes.</a:t>
            </a:r>
          </a:p>
        </p:txBody>
      </p:sp>
      <p:pic>
        <p:nvPicPr>
          <p:cNvPr id="3" name="Picture 2" descr="A computer screen shot of text&#10;&#10;Description automatically generated">
            <a:extLst>
              <a:ext uri="{FF2B5EF4-FFF2-40B4-BE49-F238E27FC236}">
                <a16:creationId xmlns:a16="http://schemas.microsoft.com/office/drawing/2014/main" id="{D49868F3-8057-AFFE-CA12-FC716CAE0C0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7982" y="2062376"/>
            <a:ext cx="7523769" cy="4395514"/>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4" name="CuadroTexto 7">
            <a:extLst>
              <a:ext uri="{FF2B5EF4-FFF2-40B4-BE49-F238E27FC236}">
                <a16:creationId xmlns:a16="http://schemas.microsoft.com/office/drawing/2014/main" id="{A1B49173-814E-60D5-F6A2-0B12F1805AE4}"/>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52</a:t>
            </a:r>
          </a:p>
        </p:txBody>
      </p:sp>
    </p:spTree>
    <p:extLst>
      <p:ext uri="{BB962C8B-B14F-4D97-AF65-F5344CB8AC3E}">
        <p14:creationId xmlns:p14="http://schemas.microsoft.com/office/powerpoint/2010/main" val="8375411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601255" y="792480"/>
            <a:ext cx="3409782" cy="5208270"/>
          </a:xfrm>
        </p:spPr>
        <p:txBody>
          <a:bodyPr>
            <a:normAutofit/>
          </a:bodyPr>
          <a:lstStyle/>
          <a:p>
            <a:pPr marL="0" indent="0" algn="just">
              <a:buNone/>
            </a:pPr>
            <a:r>
              <a:rPr lang="es-ES" dirty="0">
                <a:solidFill>
                  <a:schemeClr val="bg1"/>
                </a:solidFill>
              </a:rPr>
              <a:t>Para la creación de las pruebas unitarias, dar clic derecho sobre el paquete </a:t>
            </a:r>
            <a:r>
              <a:rPr lang="es-ES" dirty="0" err="1">
                <a:solidFill>
                  <a:schemeClr val="bg1"/>
                </a:solidFill>
              </a:rPr>
              <a:t>controller</a:t>
            </a:r>
            <a:r>
              <a:rPr lang="es-ES" dirty="0">
                <a:solidFill>
                  <a:schemeClr val="bg1"/>
                </a:solidFill>
              </a:rPr>
              <a:t> &gt; Tools &gt; Create / Update Tests.</a:t>
            </a:r>
          </a:p>
        </p:txBody>
      </p:sp>
      <p:sp>
        <p:nvSpPr>
          <p:cNvPr id="14" name="CuadroTexto 13">
            <a:extLst>
              <a:ext uri="{FF2B5EF4-FFF2-40B4-BE49-F238E27FC236}">
                <a16:creationId xmlns:a16="http://schemas.microsoft.com/office/drawing/2014/main" id="{F9E24F6C-C9E1-4AD1-9D87-A4959C9B0611}"/>
              </a:ext>
            </a:extLst>
          </p:cNvPr>
          <p:cNvSpPr txBox="1"/>
          <p:nvPr/>
        </p:nvSpPr>
        <p:spPr>
          <a:xfrm>
            <a:off x="11704320" y="6427410"/>
            <a:ext cx="467361" cy="400110"/>
          </a:xfrm>
          <a:prstGeom prst="rect">
            <a:avLst/>
          </a:prstGeom>
          <a:noFill/>
        </p:spPr>
        <p:txBody>
          <a:bodyPr wrap="square" rtlCol="0">
            <a:spAutoFit/>
          </a:bodyPr>
          <a:lstStyle/>
          <a:p>
            <a:r>
              <a:rPr lang="es-EC" sz="2000" dirty="0">
                <a:solidFill>
                  <a:schemeClr val="bg1"/>
                </a:solidFill>
              </a:rPr>
              <a:t>5</a:t>
            </a:r>
          </a:p>
        </p:txBody>
      </p:sp>
      <p:sp>
        <p:nvSpPr>
          <p:cNvPr id="2" name="Marcador de contenido 2">
            <a:extLst>
              <a:ext uri="{FF2B5EF4-FFF2-40B4-BE49-F238E27FC236}">
                <a16:creationId xmlns:a16="http://schemas.microsoft.com/office/drawing/2014/main" id="{47DF848B-4A3C-B1E5-9943-06A24C151B57}"/>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pic>
        <p:nvPicPr>
          <p:cNvPr id="5" name="Picture 4" descr="A screenshot of a computer program&#10;&#10;Description automatically generated">
            <a:extLst>
              <a:ext uri="{FF2B5EF4-FFF2-40B4-BE49-F238E27FC236}">
                <a16:creationId xmlns:a16="http://schemas.microsoft.com/office/drawing/2014/main" id="{2EAC03C7-1511-695C-EE97-563708AD42A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53680" y="1082271"/>
            <a:ext cx="3450735" cy="4693458"/>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7" name="CuadroTexto 7">
            <a:extLst>
              <a:ext uri="{FF2B5EF4-FFF2-40B4-BE49-F238E27FC236}">
                <a16:creationId xmlns:a16="http://schemas.microsoft.com/office/drawing/2014/main" id="{4010FBAE-16B1-2917-EEA8-A9B2BC9A7946}"/>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53</a:t>
            </a:r>
          </a:p>
        </p:txBody>
      </p:sp>
    </p:spTree>
    <p:extLst>
      <p:ext uri="{BB962C8B-B14F-4D97-AF65-F5344CB8AC3E}">
        <p14:creationId xmlns:p14="http://schemas.microsoft.com/office/powerpoint/2010/main" val="28562850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b="1" dirty="0">
                <a:solidFill>
                  <a:srgbClr val="FFFF00"/>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Las pruebas unitarias serán las mismas que se utilizaron en el cliente de consola, por lo tanto, se omitirán en esta sección.</a:t>
            </a:r>
          </a:p>
        </p:txBody>
      </p:sp>
      <p:pic>
        <p:nvPicPr>
          <p:cNvPr id="4" name="Picture 3" descr="A screenshot of a computer&#10;&#10;Description automatically generated">
            <a:extLst>
              <a:ext uri="{FF2B5EF4-FFF2-40B4-BE49-F238E27FC236}">
                <a16:creationId xmlns:a16="http://schemas.microsoft.com/office/drawing/2014/main" id="{4B9B6E80-7CBD-51B4-678B-AB9003EF6EE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6064" y="2289752"/>
            <a:ext cx="7792317" cy="3695411"/>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6" name="CuadroTexto 7">
            <a:extLst>
              <a:ext uri="{FF2B5EF4-FFF2-40B4-BE49-F238E27FC236}">
                <a16:creationId xmlns:a16="http://schemas.microsoft.com/office/drawing/2014/main" id="{30167DD9-AECE-4CD9-9403-637AB09AAFCA}"/>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54</a:t>
            </a:r>
          </a:p>
        </p:txBody>
      </p:sp>
    </p:spTree>
    <p:extLst>
      <p:ext uri="{BB962C8B-B14F-4D97-AF65-F5344CB8AC3E}">
        <p14:creationId xmlns:p14="http://schemas.microsoft.com/office/powerpoint/2010/main" val="887531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b="1" dirty="0">
                <a:solidFill>
                  <a:srgbClr val="FFFF00"/>
                </a:solidFill>
              </a:rPr>
              <a:t>EJECUCIÓN DE LA APLICACIÓN</a:t>
            </a:r>
          </a:p>
          <a:p>
            <a:pPr>
              <a:lnSpc>
                <a:spcPct val="90000"/>
              </a:lnSpc>
            </a:pPr>
            <a:r>
              <a:rPr lang="es-ES" sz="900" dirty="0">
                <a:solidFill>
                  <a:schemeClr val="bg1"/>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1600" cap="none" dirty="0"/>
              <a:t>Para ejecutar el cliente web, dar clic sobre el proyecto &gt; RUN. Si el proyecto no tiene errores se mostrará en el navegador la pestaña para el inicio de sesión. El usuario para esta práctica es MONSTER y la contraseña MONSTER9.</a:t>
            </a:r>
          </a:p>
        </p:txBody>
      </p:sp>
      <p:pic>
        <p:nvPicPr>
          <p:cNvPr id="3" name="Picture 2" descr="A screen shot of a computer&#10;&#10;Description automatically generated">
            <a:extLst>
              <a:ext uri="{FF2B5EF4-FFF2-40B4-BE49-F238E27FC236}">
                <a16:creationId xmlns:a16="http://schemas.microsoft.com/office/drawing/2014/main" id="{7613939C-F181-24BE-0F6A-D5A6547BD0D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79347" y="2105580"/>
            <a:ext cx="3568590" cy="2004263"/>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pic>
        <p:nvPicPr>
          <p:cNvPr id="6" name="Picture 5" descr="A screenshot of a computer&#10;&#10;Description automatically generated">
            <a:extLst>
              <a:ext uri="{FF2B5EF4-FFF2-40B4-BE49-F238E27FC236}">
                <a16:creationId xmlns:a16="http://schemas.microsoft.com/office/drawing/2014/main" id="{9D6217D8-BE72-0882-8345-19D9DFD721E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0773" y="2105580"/>
            <a:ext cx="3569144" cy="2004263"/>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pic>
        <p:nvPicPr>
          <p:cNvPr id="7" name="Picture 6" descr="A screenshot of a computer&#10;&#10;Description automatically generated">
            <a:extLst>
              <a:ext uri="{FF2B5EF4-FFF2-40B4-BE49-F238E27FC236}">
                <a16:creationId xmlns:a16="http://schemas.microsoft.com/office/drawing/2014/main" id="{C54A01FA-4BB6-B9EF-7D2A-21FED709923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30461" y="4499467"/>
            <a:ext cx="3703095" cy="2079968"/>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
        <p:nvSpPr>
          <p:cNvPr id="9" name="CuadroTexto 7">
            <a:extLst>
              <a:ext uri="{FF2B5EF4-FFF2-40B4-BE49-F238E27FC236}">
                <a16:creationId xmlns:a16="http://schemas.microsoft.com/office/drawing/2014/main" id="{1B2AB99A-5CFD-8604-41CD-3F2DCE64E7A0}"/>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55</a:t>
            </a:r>
          </a:p>
        </p:txBody>
      </p:sp>
    </p:spTree>
    <p:extLst>
      <p:ext uri="{BB962C8B-B14F-4D97-AF65-F5344CB8AC3E}">
        <p14:creationId xmlns:p14="http://schemas.microsoft.com/office/powerpoint/2010/main" val="2180584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b="1" dirty="0">
                <a:solidFill>
                  <a:srgbClr val="FFFF00"/>
                </a:solidFill>
              </a:rPr>
              <a:t>CONCLUSIONES</a:t>
            </a:r>
          </a:p>
          <a:p>
            <a:pPr>
              <a:lnSpc>
                <a:spcPct val="90000"/>
              </a:lnSpc>
            </a:pPr>
            <a:r>
              <a:rPr lang="es-ES" sz="900" dirty="0">
                <a:solidFill>
                  <a:schemeClr val="bg1"/>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3600" cap="none" dirty="0"/>
              <a:t>CONCLUSIONES</a:t>
            </a:r>
          </a:p>
        </p:txBody>
      </p:sp>
      <p:sp>
        <p:nvSpPr>
          <p:cNvPr id="4" name="Marcador de contenido 7">
            <a:extLst>
              <a:ext uri="{FF2B5EF4-FFF2-40B4-BE49-F238E27FC236}">
                <a16:creationId xmlns:a16="http://schemas.microsoft.com/office/drawing/2014/main" id="{F58B7364-BC6A-897D-66EF-8C2401D9283D}"/>
              </a:ext>
            </a:extLst>
          </p:cNvPr>
          <p:cNvSpPr>
            <a:spLocks noGrp="1"/>
          </p:cNvSpPr>
          <p:nvPr>
            <p:ph idx="1"/>
          </p:nvPr>
        </p:nvSpPr>
        <p:spPr>
          <a:xfrm>
            <a:off x="469864" y="2152772"/>
            <a:ext cx="8477350" cy="3799141"/>
          </a:xfrm>
        </p:spPr>
        <p:txBody>
          <a:bodyPr>
            <a:normAutofit fontScale="92500" lnSpcReduction="20000"/>
          </a:bodyPr>
          <a:lstStyle/>
          <a:p>
            <a:pPr algn="just">
              <a:buFont typeface="Wingdings" panose="05000000000000000000" pitchFamily="2" charset="2"/>
              <a:buChar char="v"/>
            </a:pPr>
            <a:r>
              <a:rPr lang="es-ES" dirty="0">
                <a:solidFill>
                  <a:schemeClr val="tx1"/>
                </a:solidFill>
              </a:rPr>
              <a:t>El patrón de arquitectura Modelo-Vista-Controlador (MVC) permite estructurar proyectos y organizar las clases en base a sus responsabilidades, gracias a esto la implementación de los cuatro clientes fue más simple y organizada, pues las capas de modelo, controlador e incluso la de pruebas no cambian y se pueden reutilizar, esto a excepción del cliente móvil, el cual cambia la sintaxis de programación, pero la lógica sigue siendo la misma. </a:t>
            </a:r>
          </a:p>
          <a:p>
            <a:pPr algn="just">
              <a:buFont typeface="Wingdings" panose="05000000000000000000" pitchFamily="2" charset="2"/>
              <a:buChar char="v"/>
            </a:pPr>
            <a:r>
              <a:rPr lang="es-ES" dirty="0">
                <a:solidFill>
                  <a:schemeClr val="tx1"/>
                </a:solidFill>
              </a:rPr>
              <a:t>El uso de SOAP para la creación de los Web Services no fue complicada gracias al IDE Apache NetBeans, pues proporciona una amplia gama de herramientas para desarrollar diferentes tipos de proyectos. La herramienta de generación de código para consumir los Web Services facilita en gran medida la implementación de los clientes de consola, escritorio y web.</a:t>
            </a:r>
          </a:p>
          <a:p>
            <a:pPr algn="just">
              <a:buFont typeface="Wingdings" panose="05000000000000000000" pitchFamily="2" charset="2"/>
              <a:buChar char="v"/>
            </a:pPr>
            <a:r>
              <a:rPr lang="es-ES" dirty="0">
                <a:solidFill>
                  <a:schemeClr val="tx1"/>
                </a:solidFill>
              </a:rPr>
              <a:t>Para el cliente móvil, se presentaron inconvenientes para generar el código de cliente, necesario para consumir los Web Services SOAP, actualmente no se han presentado nuevas herramientas para el consumo de este tipo de servicios en la plataforma móvil. La extensión que se usó para la generación del código en la aplicación móvil es de paga, y aunque ofrece un plan gratuito, este no es suficiente en caso de desarrollar aplicaciones con una gran cantidad de Web Services SOAP.</a:t>
            </a:r>
          </a:p>
        </p:txBody>
      </p:sp>
      <p:sp>
        <p:nvSpPr>
          <p:cNvPr id="9" name="CuadroTexto 7">
            <a:extLst>
              <a:ext uri="{FF2B5EF4-FFF2-40B4-BE49-F238E27FC236}">
                <a16:creationId xmlns:a16="http://schemas.microsoft.com/office/drawing/2014/main" id="{CE711013-A7AE-E867-23CC-13EE0C95B9BA}"/>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56</a:t>
            </a:r>
          </a:p>
        </p:txBody>
      </p:sp>
    </p:spTree>
    <p:extLst>
      <p:ext uri="{BB962C8B-B14F-4D97-AF65-F5344CB8AC3E}">
        <p14:creationId xmlns:p14="http://schemas.microsoft.com/office/powerpoint/2010/main" val="29249448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EB18846-8AA0-F289-1BF0-9D462516D713}"/>
              </a:ext>
            </a:extLst>
          </p:cNvPr>
          <p:cNvSpPr txBox="1">
            <a:spLocks/>
          </p:cNvSpPr>
          <p:nvPr/>
        </p:nvSpPr>
        <p:spPr>
          <a:xfrm>
            <a:off x="9117367" y="0"/>
            <a:ext cx="30746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s-ES" sz="900" dirty="0">
                <a:solidFill>
                  <a:schemeClr val="bg1"/>
                </a:solidFill>
              </a:rPr>
              <a:t>ESTRUCTURA DE PROYECTO</a:t>
            </a:r>
          </a:p>
          <a:p>
            <a:pPr>
              <a:lnSpc>
                <a:spcPct val="90000"/>
              </a:lnSpc>
            </a:pPr>
            <a:r>
              <a:rPr lang="es-ES" sz="900" dirty="0">
                <a:solidFill>
                  <a:schemeClr val="bg1"/>
                </a:solidFill>
              </a:rPr>
              <a:t>APLICACIÓN SERVIDOR</a:t>
            </a:r>
          </a:p>
          <a:p>
            <a:pPr lvl="1">
              <a:lnSpc>
                <a:spcPct val="90000"/>
              </a:lnSpc>
            </a:pPr>
            <a:r>
              <a:rPr lang="es-ES" sz="900" dirty="0">
                <a:solidFill>
                  <a:schemeClr val="bg1"/>
                </a:solidFill>
              </a:rPr>
              <a:t>CREACIÓN DEL PROYECTO SERVIDOR</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CONSOLA</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ESCRITORIO</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MÓVIL</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APLICACIÓN CLIENTE WEB</a:t>
            </a:r>
          </a:p>
          <a:p>
            <a:pPr lvl="1">
              <a:lnSpc>
                <a:spcPct val="90000"/>
              </a:lnSpc>
            </a:pPr>
            <a:r>
              <a:rPr lang="es-ES" sz="900" dirty="0">
                <a:solidFill>
                  <a:schemeClr val="bg1"/>
                </a:solidFill>
              </a:rPr>
              <a:t>CREACIÓN DEL CLIENTE</a:t>
            </a:r>
          </a:p>
          <a:p>
            <a:pPr lvl="1">
              <a:lnSpc>
                <a:spcPct val="90000"/>
              </a:lnSpc>
            </a:pPr>
            <a:r>
              <a:rPr lang="es-ES" sz="900" dirty="0">
                <a:solidFill>
                  <a:schemeClr val="bg1"/>
                </a:solidFill>
              </a:rPr>
              <a:t>MODELO MVC</a:t>
            </a:r>
          </a:p>
          <a:p>
            <a:pPr lvl="1">
              <a:lnSpc>
                <a:spcPct val="90000"/>
              </a:lnSpc>
            </a:pPr>
            <a:r>
              <a:rPr lang="es-ES" sz="900" dirty="0">
                <a:solidFill>
                  <a:schemeClr val="bg1"/>
                </a:solidFill>
              </a:rPr>
              <a:t>PRUEBAS UNITARIAS</a:t>
            </a:r>
          </a:p>
          <a:p>
            <a:pPr lvl="1">
              <a:lnSpc>
                <a:spcPct val="90000"/>
              </a:lnSpc>
            </a:pPr>
            <a:r>
              <a:rPr lang="es-ES" sz="900" dirty="0">
                <a:solidFill>
                  <a:schemeClr val="bg1"/>
                </a:solidFill>
              </a:rPr>
              <a:t>EJECUCIÓN DE LA APLICACIÓN</a:t>
            </a:r>
          </a:p>
          <a:p>
            <a:pPr>
              <a:lnSpc>
                <a:spcPct val="90000"/>
              </a:lnSpc>
            </a:pPr>
            <a:r>
              <a:rPr lang="es-ES" sz="900" dirty="0">
                <a:solidFill>
                  <a:schemeClr val="bg1"/>
                </a:solidFill>
              </a:rPr>
              <a:t>CONCLUSIONES</a:t>
            </a:r>
          </a:p>
          <a:p>
            <a:pPr>
              <a:lnSpc>
                <a:spcPct val="90000"/>
              </a:lnSpc>
            </a:pPr>
            <a:r>
              <a:rPr lang="es-ES" sz="900" b="1" dirty="0">
                <a:solidFill>
                  <a:srgbClr val="FFFF00"/>
                </a:solidFill>
              </a:rPr>
              <a:t>RECOMENDACIONES</a:t>
            </a:r>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581192" y="702156"/>
            <a:ext cx="8477350" cy="1013800"/>
          </a:xfrm>
        </p:spPr>
        <p:txBody>
          <a:bodyPr>
            <a:noAutofit/>
          </a:bodyPr>
          <a:lstStyle/>
          <a:p>
            <a:pPr algn="just"/>
            <a:r>
              <a:rPr lang="es-ES" sz="3600" cap="none" dirty="0"/>
              <a:t>RECOMENDACIONES</a:t>
            </a:r>
          </a:p>
        </p:txBody>
      </p:sp>
      <p:sp>
        <p:nvSpPr>
          <p:cNvPr id="3" name="Marcador de contenido 7">
            <a:extLst>
              <a:ext uri="{FF2B5EF4-FFF2-40B4-BE49-F238E27FC236}">
                <a16:creationId xmlns:a16="http://schemas.microsoft.com/office/drawing/2014/main" id="{C598F61C-1B2C-BCF3-43FB-2FA148FEDD99}"/>
              </a:ext>
            </a:extLst>
          </p:cNvPr>
          <p:cNvSpPr>
            <a:spLocks noGrp="1"/>
          </p:cNvSpPr>
          <p:nvPr>
            <p:ph idx="1"/>
          </p:nvPr>
        </p:nvSpPr>
        <p:spPr>
          <a:xfrm>
            <a:off x="469864" y="2152772"/>
            <a:ext cx="8477350" cy="3799141"/>
          </a:xfrm>
        </p:spPr>
        <p:txBody>
          <a:bodyPr>
            <a:normAutofit/>
          </a:bodyPr>
          <a:lstStyle/>
          <a:p>
            <a:pPr algn="just">
              <a:buFont typeface="Wingdings" panose="05000000000000000000" pitchFamily="2" charset="2"/>
              <a:buChar char="v"/>
            </a:pPr>
            <a:r>
              <a:rPr lang="es-ES" dirty="0">
                <a:solidFill>
                  <a:schemeClr val="tx1"/>
                </a:solidFill>
              </a:rPr>
              <a:t>Para esta práctica se recomienda el uso de Payara v5, pues las versiones más actuales presentan problemas al momento de ejecutar las aplicaciones que se desarrollaron en Apache NetBeans. Además, se deben tomar muy en cuenta las librerías y dependencias necesarias para ejecutar los proyectos, pues estas varían cuando se ejecuta el proyecto en la JVM con los proyectos que se ejecutan en el servidor de payara.</a:t>
            </a:r>
          </a:p>
          <a:p>
            <a:pPr algn="just">
              <a:buFont typeface="Wingdings" panose="05000000000000000000" pitchFamily="2" charset="2"/>
              <a:buChar char="v"/>
            </a:pPr>
            <a:r>
              <a:rPr lang="es-ES" dirty="0">
                <a:solidFill>
                  <a:schemeClr val="tx1"/>
                </a:solidFill>
              </a:rPr>
              <a:t>Al crear las referencias a los Web Services, se debe asegurar el paquete de destino para las clases que se generaran. Además de actualizar la dirección URL de los Web Services para los clientes móvil y web.</a:t>
            </a:r>
          </a:p>
        </p:txBody>
      </p:sp>
      <p:sp>
        <p:nvSpPr>
          <p:cNvPr id="4" name="CuadroTexto 7">
            <a:extLst>
              <a:ext uri="{FF2B5EF4-FFF2-40B4-BE49-F238E27FC236}">
                <a16:creationId xmlns:a16="http://schemas.microsoft.com/office/drawing/2014/main" id="{000690FC-2B6F-C2F5-3742-75E5478A8059}"/>
              </a:ext>
            </a:extLst>
          </p:cNvPr>
          <p:cNvSpPr txBox="1"/>
          <p:nvPr/>
        </p:nvSpPr>
        <p:spPr>
          <a:xfrm>
            <a:off x="11696007" y="6457890"/>
            <a:ext cx="495993" cy="400110"/>
          </a:xfrm>
          <a:prstGeom prst="rect">
            <a:avLst/>
          </a:prstGeom>
          <a:noFill/>
        </p:spPr>
        <p:txBody>
          <a:bodyPr wrap="square" rtlCol="0">
            <a:spAutoFit/>
          </a:bodyPr>
          <a:lstStyle/>
          <a:p>
            <a:r>
              <a:rPr lang="es-EC" sz="2000" dirty="0">
                <a:solidFill>
                  <a:schemeClr val="bg1"/>
                </a:solidFill>
              </a:rPr>
              <a:t>57</a:t>
            </a:r>
          </a:p>
        </p:txBody>
      </p:sp>
    </p:spTree>
    <p:extLst>
      <p:ext uri="{BB962C8B-B14F-4D97-AF65-F5344CB8AC3E}">
        <p14:creationId xmlns:p14="http://schemas.microsoft.com/office/powerpoint/2010/main" val="1957357025"/>
      </p:ext>
    </p:extLst>
  </p:cSld>
  <p:clrMapOvr>
    <a:masterClrMapping/>
  </p:clrMapOvr>
</p:sld>
</file>

<file path=ppt/theme/theme1.xml><?xml version="1.0" encoding="utf-8"?>
<a:theme xmlns:a="http://schemas.openxmlformats.org/drawingml/2006/main" name="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txDef>
      <a:spPr>
        <a:noFill/>
      </a:spPr>
      <a:bodyPr wrap="square" rtlCol="0">
        <a:spAutoFit/>
      </a:bodyPr>
      <a:lstStyle>
        <a:defPPr algn="l">
          <a:defRPr sz="2000" dirty="0">
            <a:solidFill>
              <a:schemeClr val="bg1"/>
            </a:solidFill>
          </a:defRPr>
        </a:defPPr>
      </a:lstStyle>
    </a:txDef>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5750</Words>
  <Application>Microsoft Office PowerPoint</Application>
  <PresentationFormat>Widescreen</PresentationFormat>
  <Paragraphs>1538</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Gill Sans MT</vt:lpstr>
      <vt:lpstr>Wingdings</vt:lpstr>
      <vt:lpstr>Wingdings 2</vt:lpstr>
      <vt:lpstr>Dividendo</vt:lpstr>
      <vt:lpstr>Conversión DE UNIDADES RestFull JAVA SIN BDD</vt:lpstr>
      <vt:lpstr>PowerPoint Presentation</vt:lpstr>
      <vt:lpstr>ESTRUCTURA DEL PROYECTO</vt:lpstr>
      <vt:lpstr>Para la elaboración del proyecto, en primer lugar, se debe crear una carpeta donde se vaya a almacenar los archivos necesarios para su funcionamiento.</vt:lpstr>
      <vt:lpstr>APLICACIÓN DE SERVIDOR</vt:lpstr>
      <vt:lpstr>APLICACIÓN SERVIDOR CREACIÓN DEL PROYECTO SERVIDOR</vt:lpstr>
      <vt:lpstr>Se procede a configurar el nombre y la ubicación de la aplicación servidor, para los ajustes del servidor escoger de preferencia la version 5 de payara y no seleccionar ningún Framework.</vt:lpstr>
      <vt:lpstr>PowerPoint Presentation</vt:lpstr>
      <vt:lpstr>Para la lógica de conversión de unidades, en la clase UnitConversionModel se implementan las funciones para convertir centímetros a pulgadas y viceversa.</vt:lpstr>
      <vt:lpstr>A continuación, se realiza la codificación de los métodos que serán los encargados de manejar las solicitudes que se realicen al web service SOAP para la conversión de unidades.</vt:lpstr>
      <vt:lpstr>A continuación, se procede a crear una nueva clase en el paquete de pruebas que se llama PruebaConexionBD.</vt:lpstr>
      <vt:lpstr>Al finalizar la ejecución de las pruebas unitarias, se debe mostrar el siguiente recuadro con los resultados de las pruebas.</vt:lpstr>
      <vt:lpstr>Para realizar pruebas sobre los webs services implementados, primero se debe de ejecutar la aplicación, luego dar clic derecho sobre cualquiera de los webs services para que se abra el siguiente panel.</vt:lpstr>
      <vt:lpstr>APLICACIÓN CLIENTE CONSOLA</vt:lpstr>
      <vt:lpstr>Para la aplicación cliente de consola, seleccionamos un nuevo proyecto y damos clic en Java with Ant &gt; Java Aplicación.</vt:lpstr>
      <vt:lpstr>Antes de crear la estructura para el cliente consola, se van a crear las referencias a los Web Services que se implementaron en la aplicación de servidor. Para crear las referencias hacer clic derecho sobre el proyecto &gt; Web Service Client.</vt:lpstr>
      <vt:lpstr>PowerPoint Presentation</vt:lpstr>
      <vt:lpstr>Para consumir el Web Service de conversión de unidades, en la clase WSConversionController se deben de implementar los siguientes dos métodos.</vt:lpstr>
      <vt:lpstr>Para la vista, en la clase principal la cual contine el método main, se debe de implementar el menú de opciones y los métodos necesarios para interactuar con la aplicación de consola.</vt:lpstr>
      <vt:lpstr>PowerPoint Presentation</vt:lpstr>
      <vt:lpstr>Si los casos de prueba se ejecutaron con éxito, se mostrar un cuadro con los resultados correspondientes.</vt:lpstr>
      <vt:lpstr>PowerPoint Presentation</vt:lpstr>
      <vt:lpstr>APLICACIÓN CLIENTE ESCRITORIO</vt:lpstr>
      <vt:lpstr>Para el cliente de escritorio, en Apache NetBeans se debe dar clic en nuevo proyecto &gt; Java with Ant &gt; Java Application.</vt:lpstr>
      <vt:lpstr>Antes de crear la estructura para el cliente de escritorio, se crearán las referencias a los Web Services, para la conversión de unidades se debe referenciar tal y como se muestra en la siguiente imagen, dando clic derecho sobre el proyecto &gt; New &gt; Web Service Client.</vt:lpstr>
      <vt:lpstr>PowerPoint Presentation</vt:lpstr>
      <vt:lpstr>Para la vista del inicio de sesión, se debe crear un nuevo JFrame Form, arrastrar los componentes necesarios, nombrarlos e implementar la lógica necesaria.</vt:lpstr>
      <vt:lpstr>A continuación, se debe crear otro JFrame Form, este será el encargado de implementar la vista para la conversión de unidades.</vt:lpstr>
      <vt:lpstr>Para ejecutar las pruebas unitarias, se debe dar clic derecho sobre el paquete que se generó para las pruebas &gt; Test Package.</vt:lpstr>
      <vt:lpstr>Para ejecutar el cliente de escritorio, dar clic derecho sobre el proyecto &gt; Run. Al iniciar el sistema, se muestra el inicio de sesión, en donde el usuario es MONSTER y la contraseña es MONSTER9.</vt:lpstr>
      <vt:lpstr>APLICACIÓN CLIENTE Móvil</vt:lpstr>
      <vt:lpstr>Para el cliente móvil, se usará Kotlin como lenguaje de programación y JAVA para el consumo de los Web Services. Para crear el proyecto abrir Android Studio &gt; New Project &gt; Empty Activity &gt; Next.</vt:lpstr>
      <vt:lpstr>Luego, seleccionar en donde se guardará el proyecto, es ente caso será en 02. CLIENTE_MOVIL.</vt:lpstr>
      <vt:lpstr>Una vez que se creado el proyecto, se debe dar el permiso para acceder a internet y el permiso para consumir servicios con http.</vt:lpstr>
      <vt:lpstr>PowerPoint Presentation</vt:lpstr>
      <vt:lpstr>Para el consumo de los Web Services, se hará uso de la extensión easyWSDL Generator, para instalarla dar clic en Settings &gt; Plugins &gt; buscar la extensión &gt; Install &gt; OK.</vt:lpstr>
      <vt:lpstr>PowerPoint Presentation</vt:lpstr>
      <vt:lpstr>Para que la extensión genere el código necesario para consumir el Web Service de inicio de sesión, se debe de ingresar la URL de WSDL tal y como se muestra a continuación, por último, dar clic en OK.</vt:lpstr>
      <vt:lpstr>PowerPoint Presentation</vt:lpstr>
      <vt:lpstr>Para la conversión de unidades, se deben implementar los métodos para la conversión de pulgadas a centímetros y viceversa.</vt:lpstr>
      <vt:lpstr>A continuación, se deben de definir los casos de prueba para probar el consumo de los servicios de inicio de sesión y conversión de unidades.</vt:lpstr>
      <vt:lpstr>Para ejecutar las pruebas unitarias, dar clic sobre el botón ejecutar, y a continuación se mostrará una ventana con los resultados de la ejecución.</vt:lpstr>
      <vt:lpstr>Para ejecutar la aplicación ser hará uso de un dispositivo Android con la version 11 o superior. Conectar un cable USB al computador y seleccionar el dispositivo en Android Studio una vez que lo reconozca, por último, se debe de esperar hasta que la aplicación se compile y se muestre en el dispositivo móvil.</vt:lpstr>
      <vt:lpstr>APLICACIÓN CLIENTE WEB</vt:lpstr>
      <vt:lpstr>Para la creación del cliente web, en Apache NetBeans dar clic en New Project &gt; Java Web &gt; Web Application &gt; Next.</vt:lpstr>
      <vt:lpstr>Luego se debe seleccionar el servidor de Payara v5 y Jakarta EE 8 Web.</vt:lpstr>
      <vt:lpstr>El Framework que se utilizará en este caso será JavaServer Faces con la librería de PrimeFaces, para esto se deberá de descargar el jar de PrimeFaces en la version 11 o superior.</vt:lpstr>
      <vt:lpstr>Antes de crear la estructura del proyecto, se crearán las referencias a los Web Services, tal y como se hicieron con los proyectos de consola y escritorio.</vt:lpstr>
      <vt:lpstr>PowerPoint Presentation</vt:lpstr>
      <vt:lpstr>Una vez implementado el servicio y el controlador, se realiza la implementación de la vista en JSF como se muestra a continuación.</vt:lpstr>
      <vt:lpstr>A continuación, se implementa la clase ConversionController, la cual será la encargada de gestionar la vista para la conversión de unidades y llamar a los Web Services correspondientes.</vt:lpstr>
      <vt:lpstr>A continuación, se implementa la clase ConversionController, la cual será la encargada de gestionar la vista para la conversión de unidades y llamar a los Web Services correspondientes.</vt:lpstr>
      <vt:lpstr>PowerPoint Presentation</vt:lpstr>
      <vt:lpstr>Las pruebas unitarias serán las mismas que se utilizaron en el cliente de consola, por lo tanto, se omitirán en esta sección.</vt:lpstr>
      <vt:lpstr>Para ejecutar el cliente web, dar clic sobre el proyecto &gt; RUN. Si el proyecto no tiene errores se mostrará en el navegador la pestaña para el inicio de sesión. El usuario para esta práctica es MONSTER y la contraseña MONSTER9.</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Creación de web con java server faces</dc:title>
  <dc:creator>Michael Villarruel</dc:creator>
  <cp:lastModifiedBy>Carlos Romero</cp:lastModifiedBy>
  <cp:revision>122</cp:revision>
  <dcterms:created xsi:type="dcterms:W3CDTF">2020-07-10T23:33:49Z</dcterms:created>
  <dcterms:modified xsi:type="dcterms:W3CDTF">2024-11-27T04:29:04Z</dcterms:modified>
</cp:coreProperties>
</file>